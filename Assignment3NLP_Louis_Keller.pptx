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2" r:id="rId5"/>
    <p:sldId id="259" r:id="rId6"/>
    <p:sldId id="273" r:id="rId7"/>
    <p:sldId id="275" r:id="rId8"/>
    <p:sldId id="274" r:id="rId9"/>
    <p:sldId id="260" r:id="rId10"/>
    <p:sldId id="261" r:id="rId11"/>
    <p:sldId id="262" r:id="rId12"/>
    <p:sldId id="276" r:id="rId13"/>
    <p:sldId id="263" r:id="rId14"/>
    <p:sldId id="277" r:id="rId15"/>
    <p:sldId id="264" r:id="rId16"/>
    <p:sldId id="265" r:id="rId17"/>
    <p:sldId id="278" r:id="rId18"/>
    <p:sldId id="279" r:id="rId19"/>
    <p:sldId id="266" r:id="rId20"/>
    <p:sldId id="280" r:id="rId21"/>
    <p:sldId id="267" r:id="rId22"/>
    <p:sldId id="281" r:id="rId23"/>
    <p:sldId id="268" r:id="rId24"/>
    <p:sldId id="282" r:id="rId25"/>
    <p:sldId id="269" r:id="rId26"/>
    <p:sldId id="283" r:id="rId27"/>
    <p:sldId id="270" r:id="rId28"/>
    <p:sldId id="284" r:id="rId29"/>
    <p:sldId id="27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20DF1C-E305-0C78-3241-CC653B003CD7}" v="4036" dt="2026-04-19T23:40:17.205"/>
    <p1510:client id="{674EA00E-8E7A-2FFD-B2EE-03953679BA2A}" v="1063" dt="2026-04-21T17:03:20.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5/10/relationships/revisionInfo" Target="revisionInfo.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6014"/>
            <a:ext cx="9144000" cy="2387600"/>
          </a:xfrm>
        </p:spPr>
        <p:txBody>
          <a:bodyPr>
            <a:normAutofit fontScale="90000"/>
          </a:bodyPr>
          <a:lstStyle/>
          <a:p>
            <a:r>
              <a:rPr lang="en-US"/>
              <a:t>Assignment 3:</a:t>
            </a:r>
            <a:br>
              <a:rPr lang="en-US" dirty="0"/>
            </a:br>
            <a:r>
              <a:rPr lang="en-US">
                <a:ea typeface="+mj-lt"/>
                <a:cs typeface="+mj-lt"/>
              </a:rPr>
              <a:t>NLP Analysis of Federal Reserve FOMC Minutes</a:t>
            </a:r>
            <a:endParaRPr lang="en-US" dirty="0"/>
          </a:p>
        </p:txBody>
      </p:sp>
      <p:sp>
        <p:nvSpPr>
          <p:cNvPr id="3" name="Subtitle 2"/>
          <p:cNvSpPr>
            <a:spLocks noGrp="1"/>
          </p:cNvSpPr>
          <p:nvPr>
            <p:ph type="subTitle" idx="1"/>
          </p:nvPr>
        </p:nvSpPr>
        <p:spPr>
          <a:xfrm>
            <a:off x="1524000" y="4186829"/>
            <a:ext cx="9144000" cy="1655762"/>
          </a:xfrm>
        </p:spPr>
        <p:txBody>
          <a:bodyPr vert="horz" lIns="91440" tIns="45720" rIns="91440" bIns="45720" rtlCol="0" anchor="t">
            <a:normAutofit/>
          </a:bodyPr>
          <a:lstStyle/>
          <a:p>
            <a:r>
              <a:rPr lang="en-US"/>
              <a:t>Louis Keller</a:t>
            </a:r>
          </a:p>
          <a:p>
            <a:r>
              <a:rPr lang="en-US"/>
              <a:t>Student ID: 1384004</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273AF-858C-280F-BDBC-33EF262637C9}"/>
              </a:ext>
            </a:extLst>
          </p:cNvPr>
          <p:cNvSpPr>
            <a:spLocks noGrp="1"/>
          </p:cNvSpPr>
          <p:nvPr>
            <p:ph type="title"/>
          </p:nvPr>
        </p:nvSpPr>
        <p:spPr/>
        <p:txBody>
          <a:bodyPr vert="horz" lIns="91440" tIns="45720" rIns="91440" bIns="45720" rtlCol="0" anchor="t">
            <a:normAutofit/>
          </a:bodyPr>
          <a:lstStyle/>
          <a:p>
            <a:pPr algn="ctr"/>
            <a:r>
              <a:rPr lang="en-US" dirty="0"/>
              <a:t>T</a:t>
            </a:r>
            <a:r>
              <a:rPr lang="en-US" dirty="0">
                <a:ea typeface="+mj-lt"/>
                <a:cs typeface="+mj-lt"/>
              </a:rPr>
              <a:t>he 2022–2025 Rate Shock: </a:t>
            </a:r>
            <a:br>
              <a:rPr lang="en-US" dirty="0">
                <a:ea typeface="+mj-lt"/>
                <a:cs typeface="+mj-lt"/>
              </a:rPr>
            </a:br>
            <a:r>
              <a:rPr lang="en-US">
                <a:ea typeface="+mj-lt"/>
                <a:cs typeface="+mj-lt"/>
              </a:rPr>
              <a:t>Fed Language as Economic Policy</a:t>
            </a:r>
            <a:endParaRPr lang="en-US" dirty="0">
              <a:ea typeface="+mj-lt"/>
              <a:cs typeface="+mj-lt"/>
            </a:endParaRPr>
          </a:p>
        </p:txBody>
      </p:sp>
      <p:sp>
        <p:nvSpPr>
          <p:cNvPr id="3" name="Content Placeholder 2">
            <a:extLst>
              <a:ext uri="{FF2B5EF4-FFF2-40B4-BE49-F238E27FC236}">
                <a16:creationId xmlns:a16="http://schemas.microsoft.com/office/drawing/2014/main" id="{218CA6DC-5A69-7CEB-0AFD-60D53493225C}"/>
              </a:ext>
            </a:extLst>
          </p:cNvPr>
          <p:cNvSpPr>
            <a:spLocks noGrp="1"/>
          </p:cNvSpPr>
          <p:nvPr>
            <p:ph idx="1"/>
          </p:nvPr>
        </p:nvSpPr>
        <p:spPr>
          <a:xfrm>
            <a:off x="838200" y="1768116"/>
            <a:ext cx="10515600" cy="4696394"/>
          </a:xfrm>
        </p:spPr>
        <p:txBody>
          <a:bodyPr vert="horz" lIns="91440" tIns="45720" rIns="91440" bIns="45720" rtlCol="0" anchor="t">
            <a:normAutofit/>
          </a:bodyPr>
          <a:lstStyle/>
          <a:p>
            <a:r>
              <a:rPr lang="en-US" sz="2000" dirty="0"/>
              <a:t>In November 2022, an FOMC meeting got published and one sentence got the attention of the market: "ongoing increases will be appropriate" which means that the committee is going to continue to increa</a:t>
            </a:r>
            <a:r>
              <a:rPr lang="en-US" sz="2000"/>
              <a:t>se the rates. </a:t>
            </a:r>
          </a:p>
          <a:p>
            <a:r>
              <a:rPr lang="en-US" sz="2000" dirty="0"/>
              <a:t>Couple hours after, S&amp;P 500 drop to 2.4% in session. Only one sentence made this. This </a:t>
            </a:r>
            <a:r>
              <a:rPr lang="en-US" sz="2000"/>
              <a:t>shows how analysis of Fed language is so powerful and important.</a:t>
            </a:r>
          </a:p>
          <a:p>
            <a:r>
              <a:rPr lang="en-US" sz="2000" dirty="0"/>
              <a:t>For businessmen or traders, predict what feds are going to say represent a unique advantage. Indeed, if an NLP model detect that the vocabulary tend to terms like 'disinflation', it becomes possible for them to have an early position on the interest rate markets.</a:t>
            </a:r>
          </a:p>
          <a:p>
            <a:r>
              <a:rPr lang="en-US" sz="2000" dirty="0"/>
              <a:t>To conclude, the post Covid period (2022-2025) is really rich in data because it covers 3 distinct monetary systems where we go from rates nearly equal to 0 right after the covid cr</a:t>
            </a:r>
            <a:r>
              <a:rPr lang="en-US" sz="2000"/>
              <a:t>isis to a bank crisis in 2023 to a </a:t>
            </a:r>
            <a:r>
              <a:rPr lang="en-US" sz="2000">
                <a:ea typeface="+mn-lt"/>
                <a:cs typeface="+mn-lt"/>
              </a:rPr>
              <a:t>pivot with the first decreases in September 2024, all in a context of the return of trade uncertainty in 2025 with tariffs. </a:t>
            </a:r>
          </a:p>
          <a:p>
            <a:r>
              <a:rPr lang="en-US" sz="2000" dirty="0"/>
              <a:t>This is why VADER and LDA are going to be very useful to analyze all of this.</a:t>
            </a:r>
          </a:p>
        </p:txBody>
      </p:sp>
    </p:spTree>
    <p:extLst>
      <p:ext uri="{BB962C8B-B14F-4D97-AF65-F5344CB8AC3E}">
        <p14:creationId xmlns:p14="http://schemas.microsoft.com/office/powerpoint/2010/main" val="1970827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B0E49-998C-42FF-FFEC-EE4AD69C75EF}"/>
              </a:ext>
            </a:extLst>
          </p:cNvPr>
          <p:cNvSpPr>
            <a:spLocks noGrp="1"/>
          </p:cNvSpPr>
          <p:nvPr>
            <p:ph type="title"/>
          </p:nvPr>
        </p:nvSpPr>
        <p:spPr/>
        <p:txBody>
          <a:bodyPr/>
          <a:lstStyle/>
          <a:p>
            <a:pPr algn="ctr"/>
            <a:r>
              <a:rPr lang="en-US">
                <a:ea typeface="+mj-lt"/>
                <a:cs typeface="+mj-lt"/>
              </a:rPr>
              <a:t>The Post-COVID Monetary Landscape: </a:t>
            </a:r>
            <a:br>
              <a:rPr lang="en-US" dirty="0">
                <a:ea typeface="+mj-lt"/>
                <a:cs typeface="+mj-lt"/>
              </a:rPr>
            </a:br>
            <a:r>
              <a:rPr lang="en-US">
                <a:ea typeface="+mj-lt"/>
                <a:cs typeface="+mj-lt"/>
              </a:rPr>
              <a:t>Your Dataset</a:t>
            </a:r>
            <a:endParaRPr lang="en-US"/>
          </a:p>
        </p:txBody>
      </p:sp>
      <p:sp>
        <p:nvSpPr>
          <p:cNvPr id="3" name="Content Placeholder 2">
            <a:extLst>
              <a:ext uri="{FF2B5EF4-FFF2-40B4-BE49-F238E27FC236}">
                <a16:creationId xmlns:a16="http://schemas.microsoft.com/office/drawing/2014/main" id="{304F63D1-D05C-A6CD-D5BC-99C49ADFD223}"/>
              </a:ext>
            </a:extLst>
          </p:cNvPr>
          <p:cNvSpPr>
            <a:spLocks noGrp="1"/>
          </p:cNvSpPr>
          <p:nvPr>
            <p:ph idx="1"/>
          </p:nvPr>
        </p:nvSpPr>
        <p:spPr/>
        <p:txBody>
          <a:bodyPr vert="horz" lIns="91440" tIns="45720" rIns="91440" bIns="45720" rtlCol="0" anchor="t">
            <a:normAutofit/>
          </a:bodyPr>
          <a:lstStyle/>
          <a:p>
            <a:r>
              <a:rPr lang="en-US" sz="2000" dirty="0"/>
              <a:t>The dataset is composed of 32 meetings between January 2022 and December 2025. The average words is 6750 words which shows that every text are long and dense. The </a:t>
            </a:r>
            <a:r>
              <a:rPr lang="en-US" sz="2000"/>
              <a:t>vocabulary</a:t>
            </a:r>
            <a:r>
              <a:rPr lang="en-US" sz="2000" dirty="0"/>
              <a:t> </a:t>
            </a:r>
            <a:r>
              <a:rPr lang="en-US" sz="2000"/>
              <a:t>size is 5590 before filtering and 2430 after.</a:t>
            </a:r>
            <a:endParaRPr lang="en-US"/>
          </a:p>
          <a:p>
            <a:endParaRPr lang="en-US" sz="2000" dirty="0"/>
          </a:p>
          <a:p>
            <a:r>
              <a:rPr lang="en-US" sz="2000"/>
              <a:t>The policy rate timeline is: </a:t>
            </a:r>
          </a:p>
          <a:p>
            <a:pPr marL="0" indent="0">
              <a:buNone/>
            </a:pPr>
            <a:r>
              <a:rPr lang="en-US" sz="2000"/>
              <a:t>    - A 0.25% rate in January 2022 right after Covid coming </a:t>
            </a:r>
            <a:r>
              <a:rPr lang="en-US" sz="2000" dirty="0"/>
              <a:t>from the post Covid politics.</a:t>
            </a:r>
          </a:p>
          <a:p>
            <a:pPr marL="0" indent="0">
              <a:buNone/>
            </a:pPr>
            <a:r>
              <a:rPr lang="en-US" sz="2000" dirty="0"/>
              <a:t>    - In June 2022, it </a:t>
            </a:r>
            <a:r>
              <a:rPr lang="en-US" sz="2000"/>
              <a:t>brutally accelerate with +75bp while inflation reaches 9.1%.</a:t>
            </a:r>
          </a:p>
          <a:p>
            <a:pPr marL="0" indent="0">
              <a:buNone/>
            </a:pPr>
            <a:r>
              <a:rPr lang="en-US" sz="2000"/>
              <a:t>    - In July 2023, the rate pic to 5.5% stay like this for a year (with bank crisis in March 23)</a:t>
            </a:r>
          </a:p>
          <a:p>
            <a:pPr marL="0" indent="0">
              <a:buNone/>
            </a:pPr>
            <a:r>
              <a:rPr lang="en-US" sz="2000" dirty="0"/>
              <a:t>    - In December 2025  the rate finish at 4.25% after a series of progressive </a:t>
            </a:r>
            <a:r>
              <a:rPr lang="en-US" sz="2000"/>
              <a:t>reductions</a:t>
            </a:r>
          </a:p>
          <a:p>
            <a:pPr marL="0" indent="0">
              <a:buNone/>
            </a:pPr>
            <a:endParaRPr lang="en-US" sz="2000" dirty="0"/>
          </a:p>
        </p:txBody>
      </p:sp>
    </p:spTree>
    <p:extLst>
      <p:ext uri="{BB962C8B-B14F-4D97-AF65-F5344CB8AC3E}">
        <p14:creationId xmlns:p14="http://schemas.microsoft.com/office/powerpoint/2010/main" val="1285934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A9BB-13C5-B576-4C01-38AD344BE57B}"/>
              </a:ext>
            </a:extLst>
          </p:cNvPr>
          <p:cNvSpPr>
            <a:spLocks noGrp="1"/>
          </p:cNvSpPr>
          <p:nvPr>
            <p:ph type="title"/>
          </p:nvPr>
        </p:nvSpPr>
        <p:spPr/>
        <p:txBody>
          <a:bodyPr/>
          <a:lstStyle/>
          <a:p>
            <a:pPr algn="ctr"/>
            <a:r>
              <a:rPr lang="en-US"/>
              <a:t>The Post-COVID Monetary Landscape: </a:t>
            </a:r>
            <a:br>
              <a:rPr lang="en-US" dirty="0"/>
            </a:br>
            <a:r>
              <a:rPr lang="en-US"/>
              <a:t>Your Dataset 2</a:t>
            </a:r>
          </a:p>
        </p:txBody>
      </p:sp>
      <p:pic>
        <p:nvPicPr>
          <p:cNvPr id="4" name="Content Placeholder 3" descr="A document with text on it&#10;&#10;AI-generated content may be incorrect.">
            <a:extLst>
              <a:ext uri="{FF2B5EF4-FFF2-40B4-BE49-F238E27FC236}">
                <a16:creationId xmlns:a16="http://schemas.microsoft.com/office/drawing/2014/main" id="{6362E2AF-E91B-2E41-1697-2AE511B4BA82}"/>
              </a:ext>
            </a:extLst>
          </p:cNvPr>
          <p:cNvPicPr>
            <a:picLocks noGrp="1" noChangeAspect="1"/>
          </p:cNvPicPr>
          <p:nvPr>
            <p:ph idx="1"/>
          </p:nvPr>
        </p:nvPicPr>
        <p:blipFill>
          <a:blip r:embed="rId2"/>
          <a:stretch>
            <a:fillRect/>
          </a:stretch>
        </p:blipFill>
        <p:spPr>
          <a:xfrm>
            <a:off x="466729" y="2781951"/>
            <a:ext cx="2759732" cy="3534121"/>
          </a:xfrm>
          <a:prstGeom prst="rect">
            <a:avLst/>
          </a:prstGeom>
        </p:spPr>
      </p:pic>
      <p:sp>
        <p:nvSpPr>
          <p:cNvPr id="5" name="TextBox 4">
            <a:extLst>
              <a:ext uri="{FF2B5EF4-FFF2-40B4-BE49-F238E27FC236}">
                <a16:creationId xmlns:a16="http://schemas.microsoft.com/office/drawing/2014/main" id="{A46CB8E2-E57D-5B20-0B93-B4B851649796}"/>
              </a:ext>
            </a:extLst>
          </p:cNvPr>
          <p:cNvSpPr txBox="1"/>
          <p:nvPr/>
        </p:nvSpPr>
        <p:spPr>
          <a:xfrm>
            <a:off x="471271" y="1773068"/>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First page pf Pdf Version </a:t>
            </a:r>
            <a:r>
              <a:rPr lang="en-US"/>
              <a:t>of Jan 2022:</a:t>
            </a:r>
          </a:p>
        </p:txBody>
      </p:sp>
      <p:sp>
        <p:nvSpPr>
          <p:cNvPr id="7" name="TextBox 6">
            <a:extLst>
              <a:ext uri="{FF2B5EF4-FFF2-40B4-BE49-F238E27FC236}">
                <a16:creationId xmlns:a16="http://schemas.microsoft.com/office/drawing/2014/main" id="{78CA1EF2-EE3F-96C2-BAD1-F9C4A2482905}"/>
              </a:ext>
            </a:extLst>
          </p:cNvPr>
          <p:cNvSpPr txBox="1"/>
          <p:nvPr/>
        </p:nvSpPr>
        <p:spPr>
          <a:xfrm>
            <a:off x="4055513" y="2419311"/>
            <a:ext cx="7296848"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We can see that there is a lot of names, unimportant words like Page, or </a:t>
            </a:r>
            <a:r>
              <a:rPr lang="en-US"/>
              <a:t>even some weird spaces... that we needed to remove.</a:t>
            </a:r>
          </a:p>
          <a:p>
            <a:r>
              <a:rPr lang="en-US"/>
              <a:t>And the cleaned text of January 2022 meeting looks like this: </a:t>
            </a:r>
            <a:r>
              <a:rPr lang="en-US" dirty="0">
                <a:solidFill>
                  <a:srgbClr val="1F1F1F"/>
                </a:solidFill>
                <a:ea typeface="+mn-lt"/>
                <a:cs typeface="+mn-lt"/>
              </a:rPr>
              <a:t>[operations, turned, first, discussion, </a:t>
            </a:r>
            <a:r>
              <a:rPr lang="en-US">
                <a:solidFill>
                  <a:srgbClr val="1F1F1F"/>
                </a:solidFill>
                <a:ea typeface="+mn-lt"/>
                <a:cs typeface="+mn-lt"/>
              </a:rPr>
              <a:t>period...]</a:t>
            </a:r>
            <a:endParaRPr lang="en-US"/>
          </a:p>
          <a:p>
            <a:endParaRPr lang="en-US" dirty="0">
              <a:solidFill>
                <a:srgbClr val="1F1F1F"/>
              </a:solidFill>
            </a:endParaRPr>
          </a:p>
          <a:p>
            <a:r>
              <a:rPr lang="en-US" dirty="0">
                <a:solidFill>
                  <a:srgbClr val="1F1F1F"/>
                </a:solidFill>
              </a:rPr>
              <a:t>This section is rich in NLP because there was a lot of changes in the market in just 3 years creating </a:t>
            </a:r>
            <a:r>
              <a:rPr lang="en-US">
                <a:solidFill>
                  <a:srgbClr val="1F1F1F"/>
                </a:solidFill>
              </a:rPr>
              <a:t>naturally  changes for the vocabulary used. </a:t>
            </a:r>
          </a:p>
          <a:p>
            <a:r>
              <a:rPr lang="en-US" dirty="0">
                <a:solidFill>
                  <a:srgbClr val="1F1F1F"/>
                </a:solidFill>
              </a:rPr>
              <a:t>Words like disinflation, restrictive, … became more frequent and never </a:t>
            </a:r>
            <a:r>
              <a:rPr lang="en-US">
                <a:solidFill>
                  <a:srgbClr val="1F1F1F"/>
                </a:solidFill>
              </a:rPr>
              <a:t>seen before making our models detecting and dating them precisely.</a:t>
            </a:r>
          </a:p>
          <a:p>
            <a:r>
              <a:rPr lang="en-US" dirty="0">
                <a:solidFill>
                  <a:srgbClr val="1F1F1F"/>
                </a:solidFill>
              </a:rPr>
              <a:t>Also, in 2025, Trump era introduces new vocabulary  such as tariffs, trade or uncertainty that the LDA model isolate it like a cluster compared with everything before.</a:t>
            </a:r>
          </a:p>
        </p:txBody>
      </p:sp>
    </p:spTree>
    <p:extLst>
      <p:ext uri="{BB962C8B-B14F-4D97-AF65-F5344CB8AC3E}">
        <p14:creationId xmlns:p14="http://schemas.microsoft.com/office/powerpoint/2010/main" val="1004037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539EA-4A1B-E070-3A17-685203A8129C}"/>
              </a:ext>
            </a:extLst>
          </p:cNvPr>
          <p:cNvSpPr>
            <a:spLocks noGrp="1"/>
          </p:cNvSpPr>
          <p:nvPr>
            <p:ph type="title"/>
          </p:nvPr>
        </p:nvSpPr>
        <p:spPr/>
        <p:txBody>
          <a:bodyPr>
            <a:normAutofit/>
          </a:bodyPr>
          <a:lstStyle/>
          <a:p>
            <a:pPr algn="ctr"/>
            <a:r>
              <a:rPr lang="en-US">
                <a:ea typeface="+mj-lt"/>
                <a:cs typeface="+mj-lt"/>
              </a:rPr>
              <a:t>Data Architecture: </a:t>
            </a:r>
            <a:br>
              <a:rPr lang="en-US" dirty="0">
                <a:ea typeface="+mj-lt"/>
                <a:cs typeface="+mj-lt"/>
              </a:rPr>
            </a:br>
            <a:r>
              <a:rPr lang="en-US">
                <a:ea typeface="+mj-lt"/>
                <a:cs typeface="+mj-lt"/>
              </a:rPr>
              <a:t>From FOMC.gov to Analysis-Ready CSV</a:t>
            </a:r>
            <a:endParaRPr lang="en-US"/>
          </a:p>
        </p:txBody>
      </p:sp>
      <p:sp>
        <p:nvSpPr>
          <p:cNvPr id="3" name="Content Placeholder 2">
            <a:extLst>
              <a:ext uri="{FF2B5EF4-FFF2-40B4-BE49-F238E27FC236}">
                <a16:creationId xmlns:a16="http://schemas.microsoft.com/office/drawing/2014/main" id="{330309A2-8F18-1A3D-E740-1A23DA6696D6}"/>
              </a:ext>
            </a:extLst>
          </p:cNvPr>
          <p:cNvSpPr>
            <a:spLocks noGrp="1"/>
          </p:cNvSpPr>
          <p:nvPr>
            <p:ph idx="1"/>
          </p:nvPr>
        </p:nvSpPr>
        <p:spPr>
          <a:xfrm>
            <a:off x="723181" y="1926266"/>
            <a:ext cx="10515600" cy="4351338"/>
          </a:xfrm>
        </p:spPr>
        <p:txBody>
          <a:bodyPr vert="horz" lIns="91440" tIns="45720" rIns="91440" bIns="45720" rtlCol="0" anchor="t">
            <a:normAutofit/>
          </a:bodyPr>
          <a:lstStyle/>
          <a:p>
            <a:pPr marL="342900" indent="-342900"/>
            <a:r>
              <a:rPr lang="en-US" sz="2000"/>
              <a:t>Scrapping Architecture:</a:t>
            </a:r>
            <a:endParaRPr lang="en-US" sz="2000" dirty="0"/>
          </a:p>
          <a:p>
            <a:pPr marL="0" indent="0">
              <a:buNone/>
            </a:pPr>
            <a:endParaRPr lang="en-US" sz="2000" dirty="0"/>
          </a:p>
          <a:p>
            <a:pPr marL="0" indent="0">
              <a:buNone/>
            </a:pPr>
            <a:endParaRPr lang="en-US" sz="2000" dirty="0"/>
          </a:p>
          <a:p>
            <a:pPr marL="0" indent="0">
              <a:buNone/>
            </a:pPr>
            <a:endParaRPr lang="en-US" sz="2000" dirty="0"/>
          </a:p>
          <a:p>
            <a:pPr marL="342900" indent="-342900"/>
            <a:r>
              <a:rPr lang="en-US" sz="2000" dirty="0"/>
              <a:t>Cleaning Part: First, we normalized the date because Fed uses a variety of formats for their dates like Jan 25-26, 2022 or January 14-15, 2022. So we converted everything with datetime64 (like this pandas can manipulate it) to be in the format Month, Year. After, we removed the boilerplate. Indeed, each document starts headers like: "Board of Governors of the..." And also as page numbers or </a:t>
            </a:r>
            <a:r>
              <a:rPr lang="en-US" sz="2000" dirty="0" err="1"/>
              <a:t>multispaces</a:t>
            </a:r>
            <a:r>
              <a:rPr lang="en-US" sz="2000" dirty="0"/>
              <a:t> or unwanted line breaks. There was problems with the text itself like </a:t>
            </a:r>
            <a:r>
              <a:rPr lang="en-US" sz="2000" dirty="0" err="1"/>
              <a:t>stopwords</a:t>
            </a:r>
            <a:r>
              <a:rPr lang="en-US" sz="2000" dirty="0"/>
              <a:t>, URL's special characters...</a:t>
            </a:r>
          </a:p>
          <a:p>
            <a:pPr marL="342900" indent="-342900"/>
            <a:r>
              <a:rPr lang="en-US" sz="2000" dirty="0"/>
              <a:t>To remove and clean all of this, we used regex for URL's, weird spaces... And </a:t>
            </a:r>
            <a:r>
              <a:rPr lang="en-US" sz="2000" dirty="0" err="1"/>
              <a:t>nltk</a:t>
            </a:r>
            <a:r>
              <a:rPr lang="en-US" sz="2000" dirty="0"/>
              <a:t> for </a:t>
            </a:r>
            <a:r>
              <a:rPr lang="en-US" sz="2000" dirty="0" err="1"/>
              <a:t>stopwords</a:t>
            </a:r>
            <a:r>
              <a:rPr lang="en-US" sz="2000" dirty="0"/>
              <a:t> but we still added some extra </a:t>
            </a:r>
            <a:r>
              <a:rPr lang="en-US" sz="2000" dirty="0" err="1"/>
              <a:t>stopwords</a:t>
            </a:r>
            <a:r>
              <a:rPr lang="en-US" sz="2000" dirty="0"/>
              <a:t> related to the text such as: committee, federal, reserve...</a:t>
            </a:r>
          </a:p>
          <a:p>
            <a:pPr marL="0" indent="0">
              <a:buNone/>
            </a:pPr>
            <a:endParaRPr lang="en-US" sz="1800" dirty="0"/>
          </a:p>
          <a:p>
            <a:pPr marL="342900" indent="-342900"/>
            <a:endParaRPr lang="en-US" sz="2400" dirty="0"/>
          </a:p>
        </p:txBody>
      </p:sp>
      <p:sp>
        <p:nvSpPr>
          <p:cNvPr id="4" name="Rectangle: Rounded Corners 3">
            <a:extLst>
              <a:ext uri="{FF2B5EF4-FFF2-40B4-BE49-F238E27FC236}">
                <a16:creationId xmlns:a16="http://schemas.microsoft.com/office/drawing/2014/main" id="{44BB71F4-0C6D-17B4-C08B-833E25496E48}"/>
              </a:ext>
            </a:extLst>
          </p:cNvPr>
          <p:cNvSpPr/>
          <p:nvPr/>
        </p:nvSpPr>
        <p:spPr>
          <a:xfrm>
            <a:off x="1098267" y="2356647"/>
            <a:ext cx="1947881" cy="894975"/>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15C46DCD-2790-07A5-4CD1-7EAEC223FE3E}"/>
              </a:ext>
            </a:extLst>
          </p:cNvPr>
          <p:cNvSpPr/>
          <p:nvPr/>
        </p:nvSpPr>
        <p:spPr>
          <a:xfrm>
            <a:off x="3805198" y="2356585"/>
            <a:ext cx="1830178" cy="9025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C16EDF4D-1B86-6346-519A-0DF9E31D9D61}"/>
              </a:ext>
            </a:extLst>
          </p:cNvPr>
          <p:cNvSpPr/>
          <p:nvPr/>
        </p:nvSpPr>
        <p:spPr>
          <a:xfrm>
            <a:off x="6357343" y="2326507"/>
            <a:ext cx="1817643" cy="90255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35BC057D-FF75-5B94-F0F9-02C283E4D64D}"/>
              </a:ext>
            </a:extLst>
          </p:cNvPr>
          <p:cNvSpPr/>
          <p:nvPr/>
        </p:nvSpPr>
        <p:spPr>
          <a:xfrm>
            <a:off x="8937068" y="2326507"/>
            <a:ext cx="1917906" cy="91259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EB13B10-5140-7AE6-2583-F51619384608}"/>
              </a:ext>
            </a:extLst>
          </p:cNvPr>
          <p:cNvSpPr txBox="1"/>
          <p:nvPr/>
        </p:nvSpPr>
        <p:spPr>
          <a:xfrm>
            <a:off x="1178345" y="2477046"/>
            <a:ext cx="17907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FOMC calendar </a:t>
            </a:r>
          </a:p>
          <a:p>
            <a:pPr algn="ctr"/>
            <a:r>
              <a:rPr lang="en-US"/>
              <a:t>URL</a:t>
            </a:r>
          </a:p>
        </p:txBody>
      </p:sp>
      <p:sp>
        <p:nvSpPr>
          <p:cNvPr id="9" name="TextBox 8">
            <a:extLst>
              <a:ext uri="{FF2B5EF4-FFF2-40B4-BE49-F238E27FC236}">
                <a16:creationId xmlns:a16="http://schemas.microsoft.com/office/drawing/2014/main" id="{9DC7A141-C626-5D14-72EF-AE7A510D331E}"/>
              </a:ext>
            </a:extLst>
          </p:cNvPr>
          <p:cNvSpPr txBox="1"/>
          <p:nvPr/>
        </p:nvSpPr>
        <p:spPr>
          <a:xfrm>
            <a:off x="3888526" y="2619933"/>
            <a:ext cx="175059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PDF extraction</a:t>
            </a:r>
          </a:p>
        </p:txBody>
      </p:sp>
      <p:sp>
        <p:nvSpPr>
          <p:cNvPr id="10" name="TextBox 9">
            <a:extLst>
              <a:ext uri="{FF2B5EF4-FFF2-40B4-BE49-F238E27FC236}">
                <a16:creationId xmlns:a16="http://schemas.microsoft.com/office/drawing/2014/main" id="{28864C1D-2D3F-5AAC-70F2-C4E45AB0E664}"/>
              </a:ext>
            </a:extLst>
          </p:cNvPr>
          <p:cNvSpPr txBox="1"/>
          <p:nvPr/>
        </p:nvSpPr>
        <p:spPr>
          <a:xfrm>
            <a:off x="6673858" y="2584846"/>
            <a:ext cx="117909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Cleaning</a:t>
            </a:r>
          </a:p>
        </p:txBody>
      </p:sp>
      <p:sp>
        <p:nvSpPr>
          <p:cNvPr id="11" name="TextBox 10">
            <a:extLst>
              <a:ext uri="{FF2B5EF4-FFF2-40B4-BE49-F238E27FC236}">
                <a16:creationId xmlns:a16="http://schemas.microsoft.com/office/drawing/2014/main" id="{89DFD550-C170-38D0-7AED-47C720201449}"/>
              </a:ext>
            </a:extLst>
          </p:cNvPr>
          <p:cNvSpPr txBox="1"/>
          <p:nvPr/>
        </p:nvSpPr>
        <p:spPr>
          <a:xfrm>
            <a:off x="9562055" y="2589834"/>
            <a:ext cx="6777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CSV</a:t>
            </a:r>
          </a:p>
        </p:txBody>
      </p:sp>
      <p:cxnSp>
        <p:nvCxnSpPr>
          <p:cNvPr id="12" name="Straight Arrow Connector 11">
            <a:extLst>
              <a:ext uri="{FF2B5EF4-FFF2-40B4-BE49-F238E27FC236}">
                <a16:creationId xmlns:a16="http://schemas.microsoft.com/office/drawing/2014/main" id="{9C6514EA-95D0-4477-E500-D3A3A26BC021}"/>
              </a:ext>
            </a:extLst>
          </p:cNvPr>
          <p:cNvCxnSpPr/>
          <p:nvPr/>
        </p:nvCxnSpPr>
        <p:spPr>
          <a:xfrm>
            <a:off x="3121332" y="2782875"/>
            <a:ext cx="539025" cy="125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97B53FF7-9699-06C4-F0D1-9DC9C125D382}"/>
              </a:ext>
            </a:extLst>
          </p:cNvPr>
          <p:cNvCxnSpPr>
            <a:cxnSpLocks/>
          </p:cNvCxnSpPr>
          <p:nvPr/>
        </p:nvCxnSpPr>
        <p:spPr>
          <a:xfrm>
            <a:off x="5748227" y="2762822"/>
            <a:ext cx="458815" cy="125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97B18C8B-532E-27A0-2071-7B1EC39E06A9}"/>
              </a:ext>
            </a:extLst>
          </p:cNvPr>
          <p:cNvCxnSpPr>
            <a:cxnSpLocks/>
          </p:cNvCxnSpPr>
          <p:nvPr/>
        </p:nvCxnSpPr>
        <p:spPr>
          <a:xfrm>
            <a:off x="8304936" y="2782874"/>
            <a:ext cx="539025" cy="125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47436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B5D9A-2551-C157-3E49-993079C0C314}"/>
              </a:ext>
            </a:extLst>
          </p:cNvPr>
          <p:cNvSpPr>
            <a:spLocks noGrp="1"/>
          </p:cNvSpPr>
          <p:nvPr>
            <p:ph type="title"/>
          </p:nvPr>
        </p:nvSpPr>
        <p:spPr/>
        <p:txBody>
          <a:bodyPr/>
          <a:lstStyle/>
          <a:p>
            <a:pPr algn="ctr"/>
            <a:r>
              <a:rPr lang="en-US"/>
              <a:t>Data Architecture: </a:t>
            </a:r>
            <a:br>
              <a:rPr lang="en-US" dirty="0"/>
            </a:br>
            <a:r>
              <a:rPr lang="en-US"/>
              <a:t>From FOMC.gov to Analysis-Ready CSV 2</a:t>
            </a:r>
          </a:p>
        </p:txBody>
      </p:sp>
      <p:sp>
        <p:nvSpPr>
          <p:cNvPr id="3" name="Content Placeholder 2">
            <a:extLst>
              <a:ext uri="{FF2B5EF4-FFF2-40B4-BE49-F238E27FC236}">
                <a16:creationId xmlns:a16="http://schemas.microsoft.com/office/drawing/2014/main" id="{58DFFD53-C232-0992-5958-E224A99A8900}"/>
              </a:ext>
            </a:extLst>
          </p:cNvPr>
          <p:cNvSpPr>
            <a:spLocks noGrp="1"/>
          </p:cNvSpPr>
          <p:nvPr>
            <p:ph idx="1"/>
          </p:nvPr>
        </p:nvSpPr>
        <p:spPr/>
        <p:txBody>
          <a:bodyPr vert="horz" lIns="91440" tIns="45720" rIns="91440" bIns="45720" rtlCol="0" anchor="t">
            <a:normAutofit/>
          </a:bodyPr>
          <a:lstStyle/>
          <a:p>
            <a:r>
              <a:rPr lang="en-US" dirty="0"/>
              <a:t>Then we visualized how the cleaning looked like in a table and draw </a:t>
            </a:r>
            <a:r>
              <a:rPr lang="en-US"/>
              <a:t>histogram of word count to see if there is any outliers:</a:t>
            </a:r>
            <a:endParaRPr lang="en-US" dirty="0"/>
          </a:p>
          <a:p>
            <a:pPr marL="0" indent="0">
              <a:buNone/>
            </a:pPr>
            <a:endParaRPr lang="en-US" dirty="0"/>
          </a:p>
          <a:p>
            <a:pPr marL="0" indent="0">
              <a:buNone/>
            </a:pPr>
            <a:r>
              <a:rPr lang="en-US" dirty="0"/>
              <a:t>We can see that here there is </a:t>
            </a:r>
            <a:r>
              <a:rPr lang="en-US"/>
              <a:t>none.</a:t>
            </a:r>
            <a:endParaRPr lang="en-US" dirty="0"/>
          </a:p>
        </p:txBody>
      </p:sp>
      <p:pic>
        <p:nvPicPr>
          <p:cNvPr id="4" name="Picture 3" descr="A graph with blue lines and numbers&#10;&#10;AI-generated content may be incorrect.">
            <a:extLst>
              <a:ext uri="{FF2B5EF4-FFF2-40B4-BE49-F238E27FC236}">
                <a16:creationId xmlns:a16="http://schemas.microsoft.com/office/drawing/2014/main" id="{FB69572E-9DBB-D039-3655-1D8BF09D837E}"/>
              </a:ext>
            </a:extLst>
          </p:cNvPr>
          <p:cNvPicPr>
            <a:picLocks noChangeAspect="1"/>
          </p:cNvPicPr>
          <p:nvPr/>
        </p:nvPicPr>
        <p:blipFill>
          <a:blip r:embed="rId2"/>
          <a:stretch>
            <a:fillRect/>
          </a:stretch>
        </p:blipFill>
        <p:spPr>
          <a:xfrm>
            <a:off x="6675434" y="2856057"/>
            <a:ext cx="4664735" cy="3054830"/>
          </a:xfrm>
          <a:prstGeom prst="rect">
            <a:avLst/>
          </a:prstGeom>
        </p:spPr>
      </p:pic>
    </p:spTree>
    <p:extLst>
      <p:ext uri="{BB962C8B-B14F-4D97-AF65-F5344CB8AC3E}">
        <p14:creationId xmlns:p14="http://schemas.microsoft.com/office/powerpoint/2010/main" val="2096625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8920A-23A9-8663-B757-1DF579D0D0E8}"/>
              </a:ext>
            </a:extLst>
          </p:cNvPr>
          <p:cNvSpPr>
            <a:spLocks noGrp="1"/>
          </p:cNvSpPr>
          <p:nvPr>
            <p:ph type="title"/>
          </p:nvPr>
        </p:nvSpPr>
        <p:spPr/>
        <p:txBody>
          <a:bodyPr/>
          <a:lstStyle/>
          <a:p>
            <a:pPr algn="ctr"/>
            <a:r>
              <a:rPr lang="en-US" dirty="0"/>
              <a:t>VADER Sentiment: </a:t>
            </a:r>
            <a:br>
              <a:rPr lang="en-US" dirty="0"/>
            </a:br>
            <a:r>
              <a:rPr lang="en-US"/>
              <a:t>Measuring Fed Tone Across the Hiking Cycle</a:t>
            </a:r>
          </a:p>
        </p:txBody>
      </p:sp>
      <p:pic>
        <p:nvPicPr>
          <p:cNvPr id="4" name="Content Placeholder 3" descr="A graph with lines and numbers&#10;&#10;AI-generated content may be incorrect.">
            <a:extLst>
              <a:ext uri="{FF2B5EF4-FFF2-40B4-BE49-F238E27FC236}">
                <a16:creationId xmlns:a16="http://schemas.microsoft.com/office/drawing/2014/main" id="{012025FC-B616-C49C-6FDF-4A733B20F418}"/>
              </a:ext>
            </a:extLst>
          </p:cNvPr>
          <p:cNvPicPr>
            <a:picLocks noGrp="1" noChangeAspect="1"/>
          </p:cNvPicPr>
          <p:nvPr>
            <p:ph idx="1"/>
          </p:nvPr>
        </p:nvPicPr>
        <p:blipFill>
          <a:blip r:embed="rId2"/>
          <a:stretch>
            <a:fillRect/>
          </a:stretch>
        </p:blipFill>
        <p:spPr>
          <a:xfrm>
            <a:off x="851256" y="1825625"/>
            <a:ext cx="10489488" cy="4351338"/>
          </a:xfrm>
          <a:prstGeom prst="rect">
            <a:avLst/>
          </a:prstGeom>
        </p:spPr>
      </p:pic>
    </p:spTree>
    <p:extLst>
      <p:ext uri="{BB962C8B-B14F-4D97-AF65-F5344CB8AC3E}">
        <p14:creationId xmlns:p14="http://schemas.microsoft.com/office/powerpoint/2010/main" val="3326645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0C3BA-BB63-F250-078B-84E991F0662F}"/>
              </a:ext>
            </a:extLst>
          </p:cNvPr>
          <p:cNvSpPr>
            <a:spLocks noGrp="1"/>
          </p:cNvSpPr>
          <p:nvPr>
            <p:ph type="title"/>
          </p:nvPr>
        </p:nvSpPr>
        <p:spPr/>
        <p:txBody>
          <a:bodyPr/>
          <a:lstStyle/>
          <a:p>
            <a:pPr algn="ctr"/>
            <a:r>
              <a:rPr lang="en-US"/>
              <a:t>VADER Sentiment: </a:t>
            </a:r>
            <a:br>
              <a:rPr lang="en-US" dirty="0"/>
            </a:br>
            <a:r>
              <a:rPr lang="en-US"/>
              <a:t>Measuring Fed Tone Across the Hiking Cycle </a:t>
            </a:r>
          </a:p>
        </p:txBody>
      </p:sp>
      <p:sp>
        <p:nvSpPr>
          <p:cNvPr id="3" name="Content Placeholder 2">
            <a:extLst>
              <a:ext uri="{FF2B5EF4-FFF2-40B4-BE49-F238E27FC236}">
                <a16:creationId xmlns:a16="http://schemas.microsoft.com/office/drawing/2014/main" id="{29EEEE6E-94A7-2C33-3210-5BF3CCFEBC79}"/>
              </a:ext>
            </a:extLst>
          </p:cNvPr>
          <p:cNvSpPr>
            <a:spLocks noGrp="1"/>
          </p:cNvSpPr>
          <p:nvPr>
            <p:ph idx="1"/>
          </p:nvPr>
        </p:nvSpPr>
        <p:spPr/>
        <p:txBody>
          <a:bodyPr vert="horz" lIns="91440" tIns="45720" rIns="91440" bIns="45720" rtlCol="0" anchor="t">
            <a:normAutofit/>
          </a:bodyPr>
          <a:lstStyle/>
          <a:p>
            <a:r>
              <a:rPr lang="en-US" sz="2000" dirty="0"/>
              <a:t>On the previous graph, we can observe that in general the compound sentiment of the meetings is between 0.1 and 0.2 </a:t>
            </a:r>
            <a:r>
              <a:rPr lang="en-US" sz="2000" dirty="0" err="1"/>
              <a:t>and</a:t>
            </a:r>
            <a:r>
              <a:rPr lang="en-US" sz="2000" dirty="0"/>
              <a:t> it's normal. </a:t>
            </a:r>
          </a:p>
          <a:p>
            <a:r>
              <a:rPr lang="en-US" sz="2000" dirty="0"/>
              <a:t>Indeed,</a:t>
            </a:r>
            <a:r>
              <a:rPr lang="en-US" sz="2000" dirty="0">
                <a:ea typeface="+mn-lt"/>
                <a:cs typeface="+mn-lt"/>
              </a:rPr>
              <a:t> the FOMC minutes are written in a deliberately technical and impersonal style to not alarm anyone and the market. That's why the score is 85% neutral because it doesn't contain any emotional words which is the linguistic signature of those meetings.</a:t>
            </a:r>
          </a:p>
          <a:p>
            <a:r>
              <a:rPr lang="en-US" sz="2000" dirty="0">
                <a:ea typeface="+mn-lt"/>
                <a:cs typeface="+mn-lt"/>
              </a:rPr>
              <a:t>VADER always read Fed text as 'neutral-positive' because first of all VADER got built and trained with general text like social media, product reviews... which is not the vocabulary used in the Fed meetings. Also, in the statements used by the Fed, even the hikes are formulated with neutral words, containing no negative words present in the VADER lexicon.</a:t>
            </a:r>
          </a:p>
          <a:p>
            <a:r>
              <a:rPr lang="en-US" sz="2000" dirty="0">
                <a:ea typeface="+mn-lt"/>
                <a:cs typeface="+mn-lt"/>
              </a:rPr>
              <a:t>A compound score between 0.10 and 0.20 doesn't mean that the Fed are optimistic, it just means that the language used is technically neutral with a little positive tint. Again, FOMC uses bureaucratic style for the meetings. Each word taken individually doesn't have strong emotional valence.</a:t>
            </a:r>
          </a:p>
        </p:txBody>
      </p:sp>
    </p:spTree>
    <p:extLst>
      <p:ext uri="{BB962C8B-B14F-4D97-AF65-F5344CB8AC3E}">
        <p14:creationId xmlns:p14="http://schemas.microsoft.com/office/powerpoint/2010/main" val="3493888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5E91-306E-D571-AFA7-C55F96E66795}"/>
              </a:ext>
            </a:extLst>
          </p:cNvPr>
          <p:cNvSpPr>
            <a:spLocks noGrp="1"/>
          </p:cNvSpPr>
          <p:nvPr>
            <p:ph type="title"/>
          </p:nvPr>
        </p:nvSpPr>
        <p:spPr/>
        <p:txBody>
          <a:bodyPr>
            <a:normAutofit/>
          </a:bodyPr>
          <a:lstStyle/>
          <a:p>
            <a:pPr algn="ctr"/>
            <a:r>
              <a:rPr lang="en-US">
                <a:ea typeface="+mj-lt"/>
                <a:cs typeface="+mj-lt"/>
              </a:rPr>
              <a:t>VADER Sentiment: </a:t>
            </a:r>
            <a:br>
              <a:rPr lang="en-US" dirty="0">
                <a:ea typeface="+mj-lt"/>
                <a:cs typeface="+mj-lt"/>
              </a:rPr>
            </a:br>
            <a:r>
              <a:rPr lang="en-US">
                <a:ea typeface="+mj-lt"/>
                <a:cs typeface="+mj-lt"/>
              </a:rPr>
              <a:t>Measuring Fed Tone Across the Hiking Cycle</a:t>
            </a:r>
            <a:endParaRPr lang="en-US"/>
          </a:p>
        </p:txBody>
      </p:sp>
      <p:pic>
        <p:nvPicPr>
          <p:cNvPr id="4" name="Content Placeholder 3">
            <a:extLst>
              <a:ext uri="{FF2B5EF4-FFF2-40B4-BE49-F238E27FC236}">
                <a16:creationId xmlns:a16="http://schemas.microsoft.com/office/drawing/2014/main" id="{5BB0FAB0-896C-E444-0390-646C630EA1C5}"/>
              </a:ext>
            </a:extLst>
          </p:cNvPr>
          <p:cNvPicPr>
            <a:picLocks noGrp="1" noChangeAspect="1"/>
          </p:cNvPicPr>
          <p:nvPr>
            <p:ph idx="1"/>
          </p:nvPr>
        </p:nvPicPr>
        <p:blipFill>
          <a:blip r:embed="rId2"/>
          <a:stretch>
            <a:fillRect/>
          </a:stretch>
        </p:blipFill>
        <p:spPr>
          <a:xfrm>
            <a:off x="838200" y="1848442"/>
            <a:ext cx="10515600" cy="4305703"/>
          </a:xfrm>
          <a:prstGeom prst="rect">
            <a:avLst/>
          </a:prstGeom>
        </p:spPr>
      </p:pic>
    </p:spTree>
    <p:extLst>
      <p:ext uri="{BB962C8B-B14F-4D97-AF65-F5344CB8AC3E}">
        <p14:creationId xmlns:p14="http://schemas.microsoft.com/office/powerpoint/2010/main" val="4175563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5140-5B5D-291E-F3D4-AE411785DA7E}"/>
              </a:ext>
            </a:extLst>
          </p:cNvPr>
          <p:cNvSpPr>
            <a:spLocks noGrp="1"/>
          </p:cNvSpPr>
          <p:nvPr>
            <p:ph type="title"/>
          </p:nvPr>
        </p:nvSpPr>
        <p:spPr/>
        <p:txBody>
          <a:bodyPr>
            <a:normAutofit/>
          </a:bodyPr>
          <a:lstStyle/>
          <a:p>
            <a:pPr algn="ctr"/>
            <a:r>
              <a:rPr lang="en-US" sz="3600" dirty="0">
                <a:ea typeface="+mj-lt"/>
                <a:cs typeface="+mj-lt"/>
              </a:rPr>
              <a:t>Polarity Deep Dive: </a:t>
            </a:r>
            <a:br>
              <a:rPr lang="en-US" sz="3600" dirty="0">
                <a:ea typeface="+mj-lt"/>
                <a:cs typeface="+mj-lt"/>
              </a:rPr>
            </a:br>
            <a:r>
              <a:rPr lang="en-US" sz="3600">
                <a:ea typeface="+mj-lt"/>
                <a:cs typeface="+mj-lt"/>
              </a:rPr>
              <a:t>Neutral Dominates, But When Does Negativity </a:t>
            </a:r>
            <a:r>
              <a:rPr lang="en-US" sz="3600" dirty="0">
                <a:ea typeface="+mj-lt"/>
                <a:cs typeface="+mj-lt"/>
              </a:rPr>
              <a:t>Spike?</a:t>
            </a:r>
            <a:endParaRPr lang="en-US" sz="3600" dirty="0"/>
          </a:p>
        </p:txBody>
      </p:sp>
      <p:sp>
        <p:nvSpPr>
          <p:cNvPr id="3" name="Content Placeholder 2">
            <a:extLst>
              <a:ext uri="{FF2B5EF4-FFF2-40B4-BE49-F238E27FC236}">
                <a16:creationId xmlns:a16="http://schemas.microsoft.com/office/drawing/2014/main" id="{6ADD32FF-F6AC-65A8-8665-8B45E49428C4}"/>
              </a:ext>
            </a:extLst>
          </p:cNvPr>
          <p:cNvSpPr>
            <a:spLocks noGrp="1"/>
          </p:cNvSpPr>
          <p:nvPr>
            <p:ph idx="1"/>
          </p:nvPr>
        </p:nvSpPr>
        <p:spPr/>
        <p:txBody>
          <a:bodyPr vert="horz" lIns="91440" tIns="45720" rIns="91440" bIns="45720" rtlCol="0" anchor="t">
            <a:normAutofit/>
          </a:bodyPr>
          <a:lstStyle/>
          <a:p>
            <a:r>
              <a:rPr lang="en-US" sz="1800" dirty="0"/>
              <a:t>On the gra</a:t>
            </a:r>
            <a:r>
              <a:rPr lang="en-US" sz="1800"/>
              <a:t>ph before, the negative sentiment stay between 0.03 and 0.06, but if we look a little closer several moments stand out.</a:t>
            </a:r>
            <a:endParaRPr lang="en-US" sz="1800" dirty="0"/>
          </a:p>
          <a:p>
            <a:r>
              <a:rPr lang="en-US" sz="1800"/>
              <a:t>The first pick that we can see is early 2022. Between January and February, the meetings introduce for the first time vocabulary based on inflation making the trend increase a little. The Fed recognize for the first time publicly that there is a problem.</a:t>
            </a:r>
            <a:endParaRPr lang="en-US" sz="1800" dirty="0"/>
          </a:p>
          <a:p>
            <a:r>
              <a:rPr lang="en-US" sz="1800"/>
              <a:t>The second pick </a:t>
            </a:r>
            <a:r>
              <a:rPr lang="en-US" sz="1800">
                <a:ea typeface="+mn-lt"/>
                <a:cs typeface="+mn-lt"/>
              </a:rPr>
              <a:t>corresponds to the 75bp phase between June and November 2022. The Negative curve reaches a plateau slightly higher than at the beginning of the year. The minutes from this period use more urgent wording for the first time. The June 2022 CPI figures at 9.1% are the direct trigger for this change in tone.</a:t>
            </a:r>
            <a:endParaRPr lang="en-US" sz="1800" dirty="0">
              <a:ea typeface="+mn-lt"/>
              <a:cs typeface="+mn-lt"/>
            </a:endParaRPr>
          </a:p>
          <a:p>
            <a:r>
              <a:rPr lang="en-US" sz="1800" dirty="0">
                <a:ea typeface="+mn-lt"/>
                <a:cs typeface="+mn-lt"/>
              </a:rPr>
              <a:t>The third signal concerns March 2023 and the bank failures. That's when we are supposed to see the highest peak, and yet the Negative curve barely rises. This is exactly the limitation of VADER on this corpus. Phrases like "stress in the banking sector" or "heightened uncertainty" are not recognized as negative by VADER because these words are not part of a training corpus built from tweets. VADER </a:t>
            </a:r>
            <a:r>
              <a:rPr lang="en-US" sz="1800">
                <a:ea typeface="+mn-lt"/>
                <a:cs typeface="+mn-lt"/>
              </a:rPr>
              <a:t>detects terrible or awful but not contagion or systemic risk.</a:t>
            </a:r>
          </a:p>
          <a:p>
            <a:endParaRPr lang="en-US" sz="1800" dirty="0"/>
          </a:p>
        </p:txBody>
      </p:sp>
    </p:spTree>
    <p:extLst>
      <p:ext uri="{BB962C8B-B14F-4D97-AF65-F5344CB8AC3E}">
        <p14:creationId xmlns:p14="http://schemas.microsoft.com/office/powerpoint/2010/main" val="3028328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42DC7-1CAF-8FCC-D656-C9A0F053D175}"/>
              </a:ext>
            </a:extLst>
          </p:cNvPr>
          <p:cNvSpPr>
            <a:spLocks noGrp="1"/>
          </p:cNvSpPr>
          <p:nvPr>
            <p:ph type="title"/>
          </p:nvPr>
        </p:nvSpPr>
        <p:spPr/>
        <p:txBody>
          <a:bodyPr>
            <a:normAutofit/>
          </a:bodyPr>
          <a:lstStyle/>
          <a:p>
            <a:pPr algn="ctr"/>
            <a:r>
              <a:rPr lang="en-US">
                <a:ea typeface="+mj-lt"/>
                <a:cs typeface="+mj-lt"/>
              </a:rPr>
              <a:t>Month-by-Month Positive Sentiment: </a:t>
            </a:r>
            <a:br>
              <a:rPr lang="en-US" dirty="0">
                <a:ea typeface="+mj-lt"/>
                <a:cs typeface="+mj-lt"/>
              </a:rPr>
            </a:br>
            <a:r>
              <a:rPr lang="en-US">
                <a:ea typeface="+mj-lt"/>
                <a:cs typeface="+mj-lt"/>
              </a:rPr>
              <a:t>When Did the Fed Sound Optimistic?</a:t>
            </a:r>
            <a:endParaRPr lang="en-US"/>
          </a:p>
        </p:txBody>
      </p:sp>
      <p:pic>
        <p:nvPicPr>
          <p:cNvPr id="4" name="Content Placeholder 3" descr="A screenshot of a graph&#10;&#10;AI-generated content may be incorrect.">
            <a:extLst>
              <a:ext uri="{FF2B5EF4-FFF2-40B4-BE49-F238E27FC236}">
                <a16:creationId xmlns:a16="http://schemas.microsoft.com/office/drawing/2014/main" id="{D8B2E97D-4C9A-6F17-566A-174D0ED07660}"/>
              </a:ext>
            </a:extLst>
          </p:cNvPr>
          <p:cNvPicPr>
            <a:picLocks noGrp="1" noChangeAspect="1"/>
          </p:cNvPicPr>
          <p:nvPr>
            <p:ph idx="1"/>
          </p:nvPr>
        </p:nvPicPr>
        <p:blipFill>
          <a:blip r:embed="rId2"/>
          <a:stretch>
            <a:fillRect/>
          </a:stretch>
        </p:blipFill>
        <p:spPr>
          <a:xfrm>
            <a:off x="371217" y="1869799"/>
            <a:ext cx="5353566" cy="4351338"/>
          </a:xfrm>
          <a:prstGeom prst="rect">
            <a:avLst/>
          </a:prstGeom>
        </p:spPr>
      </p:pic>
      <p:pic>
        <p:nvPicPr>
          <p:cNvPr id="5" name="Picture 4" descr="A screenshot of a chart&#10;&#10;AI-generated content may be incorrect.">
            <a:extLst>
              <a:ext uri="{FF2B5EF4-FFF2-40B4-BE49-F238E27FC236}">
                <a16:creationId xmlns:a16="http://schemas.microsoft.com/office/drawing/2014/main" id="{A18F8B0B-177E-0558-A812-14008927862B}"/>
              </a:ext>
            </a:extLst>
          </p:cNvPr>
          <p:cNvPicPr>
            <a:picLocks noChangeAspect="1"/>
          </p:cNvPicPr>
          <p:nvPr/>
        </p:nvPicPr>
        <p:blipFill>
          <a:blip r:embed="rId3"/>
          <a:stretch>
            <a:fillRect/>
          </a:stretch>
        </p:blipFill>
        <p:spPr>
          <a:xfrm>
            <a:off x="6090008" y="1866349"/>
            <a:ext cx="5312853" cy="4373216"/>
          </a:xfrm>
          <a:prstGeom prst="rect">
            <a:avLst/>
          </a:prstGeom>
        </p:spPr>
      </p:pic>
    </p:spTree>
    <p:extLst>
      <p:ext uri="{BB962C8B-B14F-4D97-AF65-F5344CB8AC3E}">
        <p14:creationId xmlns:p14="http://schemas.microsoft.com/office/powerpoint/2010/main" val="392755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6CDBA-E28B-5E74-7ADB-30829CB3C78E}"/>
              </a:ext>
            </a:extLst>
          </p:cNvPr>
          <p:cNvSpPr>
            <a:spLocks noGrp="1"/>
          </p:cNvSpPr>
          <p:nvPr>
            <p:ph type="title"/>
          </p:nvPr>
        </p:nvSpPr>
        <p:spPr/>
        <p:txBody>
          <a:bodyPr/>
          <a:lstStyle/>
          <a:p>
            <a:pPr algn="ctr"/>
            <a:r>
              <a:rPr lang="en-US" dirty="0"/>
              <a:t>Month-by-Month Positive Sentiment: </a:t>
            </a:r>
            <a:br>
              <a:rPr lang="en-US" dirty="0"/>
            </a:br>
            <a:r>
              <a:rPr lang="en-US"/>
              <a:t>When Did the Fed Sound Optimistic?</a:t>
            </a:r>
          </a:p>
        </p:txBody>
      </p:sp>
      <p:sp>
        <p:nvSpPr>
          <p:cNvPr id="3" name="Content Placeholder 2">
            <a:extLst>
              <a:ext uri="{FF2B5EF4-FFF2-40B4-BE49-F238E27FC236}">
                <a16:creationId xmlns:a16="http://schemas.microsoft.com/office/drawing/2014/main" id="{7C01F531-F9A2-DF38-115B-E18E397E2A40}"/>
              </a:ext>
            </a:extLst>
          </p:cNvPr>
          <p:cNvSpPr>
            <a:spLocks noGrp="1"/>
          </p:cNvSpPr>
          <p:nvPr>
            <p:ph idx="1"/>
          </p:nvPr>
        </p:nvSpPr>
        <p:spPr/>
        <p:txBody>
          <a:bodyPr vert="horz" lIns="91440" tIns="45720" rIns="91440" bIns="45720" rtlCol="0" anchor="t">
            <a:normAutofit fontScale="92500" lnSpcReduction="10000"/>
          </a:bodyPr>
          <a:lstStyle/>
          <a:p>
            <a:r>
              <a:rPr lang="en-US" sz="2000" dirty="0"/>
              <a:t>We can see on the multi-panel gra</a:t>
            </a:r>
            <a:r>
              <a:rPr lang="en-US" sz="2000" dirty="0">
                <a:solidFill>
                  <a:srgbClr val="000000"/>
                </a:solidFill>
                <a:latin typeface="Aptos"/>
              </a:rPr>
              <a:t>phs</a:t>
            </a:r>
            <a:r>
              <a:rPr lang="en-US" sz="2000" dirty="0"/>
              <a:t> before that in 2022 only one graph is yellow (which means that the positive VADER score is above average). </a:t>
            </a:r>
            <a:r>
              <a:rPr lang="en-US" sz="2000" dirty="0">
                <a:ea typeface="+mn-lt"/>
                <a:cs typeface="+mn-lt"/>
              </a:rPr>
              <a:t>The Fed is still talking about post-COVID economic recovery, an improving labor market, and strong demand. From February 2022, the color turns green and stays that way all year. During the entire phase of aggressive 75bp hikes between June and November 2022, the green bars remain low and stable around 0.08. The vocabulary of this period leaves no room for positivity.</a:t>
            </a:r>
          </a:p>
          <a:p>
            <a:r>
              <a:rPr lang="en-US" sz="2000" dirty="0"/>
              <a:t>In 2023, it stays green the whole year. But, in 2024, we can observe a cluster of yellow graphs. Indeed, between February and July, every graphs are yellow. It's because </a:t>
            </a:r>
            <a:r>
              <a:rPr lang="en-US" sz="2000" dirty="0">
                <a:ea typeface="+mn-lt"/>
                <a:cs typeface="+mn-lt"/>
              </a:rPr>
              <a:t>inflation is approaching 3% and declining, unemployment remains around 3.7% despite two years of rates at 5.50%, and the minutes include phrases like "labor market remains strong" or "risks are coming into better balance." These phrases contain words that VADER recognizes as positive (strong, better, eased, balance), which explains why the color turns yellow.</a:t>
            </a:r>
          </a:p>
          <a:p>
            <a:r>
              <a:rPr lang="en-US" sz="2000" dirty="0">
                <a:ea typeface="+mn-lt"/>
                <a:cs typeface="+mn-lt"/>
              </a:rPr>
              <a:t>The 2025 panels are all back in the green. This is consistent with what we saw on the compound curve in the second half of 2024 and 2025, showing a deterioration in sentiment despite the ongoing rate cuts. The 2025 minutes reintroduce a vocabulary of uncertainty related to trade risks with the tariff increases implemented by Trump (which, by the way, did a lot of damage to our businesses like wine... in France...) that offsets the positive impact of the rate cuts.</a:t>
            </a:r>
            <a:endParaRPr lang="en-US" sz="2000" dirty="0"/>
          </a:p>
        </p:txBody>
      </p:sp>
    </p:spTree>
    <p:extLst>
      <p:ext uri="{BB962C8B-B14F-4D97-AF65-F5344CB8AC3E}">
        <p14:creationId xmlns:p14="http://schemas.microsoft.com/office/powerpoint/2010/main" val="3013596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0DB1C-AC80-072D-F6AE-EEA0455FDD61}"/>
              </a:ext>
            </a:extLst>
          </p:cNvPr>
          <p:cNvSpPr>
            <a:spLocks noGrp="1"/>
          </p:cNvSpPr>
          <p:nvPr>
            <p:ph type="title"/>
          </p:nvPr>
        </p:nvSpPr>
        <p:spPr/>
        <p:txBody>
          <a:bodyPr>
            <a:normAutofit/>
          </a:bodyPr>
          <a:lstStyle/>
          <a:p>
            <a:pPr algn="ctr"/>
            <a:r>
              <a:rPr lang="en-US">
                <a:ea typeface="+mj-lt"/>
                <a:cs typeface="+mj-lt"/>
              </a:rPr>
              <a:t>Month-by-Month Negative Sentiment: </a:t>
            </a:r>
            <a:br>
              <a:rPr lang="en-US" dirty="0">
                <a:ea typeface="+mj-lt"/>
                <a:cs typeface="+mj-lt"/>
              </a:rPr>
            </a:br>
            <a:r>
              <a:rPr lang="en-US">
                <a:ea typeface="+mj-lt"/>
                <a:cs typeface="+mj-lt"/>
              </a:rPr>
              <a:t>Stress Signals in Fed Language</a:t>
            </a:r>
            <a:endParaRPr lang="en-US"/>
          </a:p>
        </p:txBody>
      </p:sp>
      <p:pic>
        <p:nvPicPr>
          <p:cNvPr id="4" name="Content Placeholder 3" descr="A screenshot of a computer&#10;&#10;AI-generated content may be incorrect.">
            <a:extLst>
              <a:ext uri="{FF2B5EF4-FFF2-40B4-BE49-F238E27FC236}">
                <a16:creationId xmlns:a16="http://schemas.microsoft.com/office/drawing/2014/main" id="{682B7075-5D6A-A2E7-D8E6-7DFFB47EB926}"/>
              </a:ext>
            </a:extLst>
          </p:cNvPr>
          <p:cNvPicPr>
            <a:picLocks noGrp="1" noChangeAspect="1"/>
          </p:cNvPicPr>
          <p:nvPr>
            <p:ph idx="1"/>
          </p:nvPr>
        </p:nvPicPr>
        <p:blipFill>
          <a:blip r:embed="rId2"/>
          <a:stretch>
            <a:fillRect/>
          </a:stretch>
        </p:blipFill>
        <p:spPr>
          <a:xfrm>
            <a:off x="717955" y="1895809"/>
            <a:ext cx="5602563" cy="4351338"/>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685E54D6-4AE1-3337-9062-77A17F61D6F3}"/>
              </a:ext>
            </a:extLst>
          </p:cNvPr>
          <p:cNvPicPr>
            <a:picLocks noChangeAspect="1"/>
          </p:cNvPicPr>
          <p:nvPr/>
        </p:nvPicPr>
        <p:blipFill>
          <a:blip r:embed="rId3"/>
          <a:stretch>
            <a:fillRect/>
          </a:stretch>
        </p:blipFill>
        <p:spPr>
          <a:xfrm>
            <a:off x="6315999" y="1998870"/>
            <a:ext cx="5170088" cy="4141306"/>
          </a:xfrm>
          <a:prstGeom prst="rect">
            <a:avLst/>
          </a:prstGeom>
        </p:spPr>
      </p:pic>
    </p:spTree>
    <p:extLst>
      <p:ext uri="{BB962C8B-B14F-4D97-AF65-F5344CB8AC3E}">
        <p14:creationId xmlns:p14="http://schemas.microsoft.com/office/powerpoint/2010/main" val="383808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25A40-4D47-0B49-90DE-42282D17BA3E}"/>
              </a:ext>
            </a:extLst>
          </p:cNvPr>
          <p:cNvSpPr>
            <a:spLocks noGrp="1"/>
          </p:cNvSpPr>
          <p:nvPr>
            <p:ph type="title"/>
          </p:nvPr>
        </p:nvSpPr>
        <p:spPr/>
        <p:txBody>
          <a:bodyPr/>
          <a:lstStyle/>
          <a:p>
            <a:pPr algn="ctr"/>
            <a:r>
              <a:rPr lang="en-US" dirty="0"/>
              <a:t>Month-by-Month Negative Sentiment: </a:t>
            </a:r>
            <a:br>
              <a:rPr lang="en-US" dirty="0"/>
            </a:br>
            <a:r>
              <a:rPr lang="en-US"/>
              <a:t>Stress Signals in Fed Language</a:t>
            </a:r>
          </a:p>
        </p:txBody>
      </p:sp>
      <p:sp>
        <p:nvSpPr>
          <p:cNvPr id="3" name="Content Placeholder 2">
            <a:extLst>
              <a:ext uri="{FF2B5EF4-FFF2-40B4-BE49-F238E27FC236}">
                <a16:creationId xmlns:a16="http://schemas.microsoft.com/office/drawing/2014/main" id="{C74DE0F7-B061-ECD9-48B4-A5376FC224BE}"/>
              </a:ext>
            </a:extLst>
          </p:cNvPr>
          <p:cNvSpPr>
            <a:spLocks noGrp="1"/>
          </p:cNvSpPr>
          <p:nvPr>
            <p:ph idx="1"/>
          </p:nvPr>
        </p:nvSpPr>
        <p:spPr>
          <a:xfrm>
            <a:off x="838200" y="2066257"/>
            <a:ext cx="10515600" cy="4351338"/>
          </a:xfrm>
        </p:spPr>
        <p:txBody>
          <a:bodyPr vert="horz" lIns="91440" tIns="45720" rIns="91440" bIns="45720" rtlCol="0" anchor="t">
            <a:normAutofit fontScale="70000" lnSpcReduction="20000"/>
          </a:bodyPr>
          <a:lstStyle/>
          <a:p>
            <a:r>
              <a:rPr lang="en-US" dirty="0"/>
              <a:t>On the graphs before, we can observe that there is few month where the negative VADER sentiment is above average (just 4).</a:t>
            </a:r>
          </a:p>
          <a:p>
            <a:r>
              <a:rPr lang="en-US" dirty="0">
                <a:ea typeface="+mn-lt"/>
                <a:cs typeface="+mn-lt"/>
              </a:rPr>
              <a:t>The first one appears in April 2022, way before the major 75bp hikes. It's interesting because April 2022 corresponds to the minutes in which the Fed acknowledges for the first time that inflation is not transitory.</a:t>
            </a:r>
          </a:p>
          <a:p>
            <a:r>
              <a:rPr lang="en-US">
                <a:ea typeface="+mn-lt"/>
                <a:cs typeface="+mn-lt"/>
              </a:rPr>
              <a:t>The second red panel, and the biggest of 2022, is </a:t>
            </a:r>
            <a:r>
              <a:rPr lang="en-US" dirty="0">
                <a:ea typeface="+mn-lt"/>
                <a:cs typeface="+mn-lt"/>
              </a:rPr>
              <a:t>October, with a bar reaching almost 0.06. It is the month of the fourth consecutive 75bp increase. It is also the period when global risks were </a:t>
            </a:r>
            <a:r>
              <a:rPr lang="en-US">
                <a:ea typeface="+mn-lt"/>
                <a:cs typeface="+mn-lt"/>
              </a:rPr>
              <a:t>accumulating,</a:t>
            </a:r>
            <a:r>
              <a:rPr lang="en-US" dirty="0">
                <a:ea typeface="+mn-lt"/>
                <a:cs typeface="+mn-lt"/>
              </a:rPr>
              <a:t> and US CPI figures were still resisting the rise but started to increase.</a:t>
            </a:r>
          </a:p>
          <a:p>
            <a:r>
              <a:rPr lang="en-US" dirty="0"/>
              <a:t>In 2023, everything is blue and again show the limitations of VADER that does not understand the bank crisis of 2023 still because of the </a:t>
            </a:r>
            <a:r>
              <a:rPr lang="en-US"/>
              <a:t>vocabulary used by the FOMC meetings.</a:t>
            </a:r>
          </a:p>
          <a:p>
            <a:r>
              <a:rPr lang="en-US" dirty="0"/>
              <a:t>In 2024 and 2025 there is also some surprising time were the graphs are red.</a:t>
            </a:r>
          </a:p>
          <a:p>
            <a:r>
              <a:rPr lang="en-US" dirty="0"/>
              <a:t>To conclude on what we saw there, </a:t>
            </a:r>
            <a:r>
              <a:rPr lang="en-US" dirty="0">
                <a:ea typeface="+mn-lt"/>
                <a:cs typeface="+mn-lt"/>
              </a:rPr>
              <a:t>the Negative score is a current, non-predictive indicator; it reflects the tone of the meeting but, by itself, does not allow one to anticipate the next decision. So, it doesn't predict a pause or acceleration.</a:t>
            </a:r>
          </a:p>
        </p:txBody>
      </p:sp>
    </p:spTree>
    <p:extLst>
      <p:ext uri="{BB962C8B-B14F-4D97-AF65-F5344CB8AC3E}">
        <p14:creationId xmlns:p14="http://schemas.microsoft.com/office/powerpoint/2010/main" val="3026096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B520F-6E8C-F1EA-F9FF-36C9EE32F55D}"/>
              </a:ext>
            </a:extLst>
          </p:cNvPr>
          <p:cNvSpPr>
            <a:spLocks noGrp="1"/>
          </p:cNvSpPr>
          <p:nvPr>
            <p:ph type="title"/>
          </p:nvPr>
        </p:nvSpPr>
        <p:spPr/>
        <p:txBody>
          <a:bodyPr>
            <a:normAutofit fontScale="90000"/>
          </a:bodyPr>
          <a:lstStyle/>
          <a:p>
            <a:pPr algn="ctr"/>
            <a:r>
              <a:rPr lang="en-US" dirty="0">
                <a:ea typeface="+mj-lt"/>
                <a:cs typeface="+mj-lt"/>
              </a:rPr>
              <a:t>VADER's Blind Spot: </a:t>
            </a:r>
            <a:br>
              <a:rPr lang="en-US" dirty="0">
                <a:ea typeface="+mj-lt"/>
                <a:cs typeface="+mj-lt"/>
              </a:rPr>
            </a:br>
            <a:r>
              <a:rPr lang="en-US">
                <a:ea typeface="+mj-lt"/>
                <a:cs typeface="+mj-lt"/>
              </a:rPr>
              <a:t>What Lexicon</a:t>
            </a:r>
            <a:r>
              <a:rPr lang="en-US" dirty="0">
                <a:ea typeface="+mj-lt"/>
                <a:cs typeface="+mj-lt"/>
              </a:rPr>
              <a:t>-Based Sentiment Misses in Fed Text</a:t>
            </a:r>
            <a:endParaRPr lang="en-US" dirty="0"/>
          </a:p>
        </p:txBody>
      </p:sp>
      <p:sp>
        <p:nvSpPr>
          <p:cNvPr id="3" name="Content Placeholder 2">
            <a:extLst>
              <a:ext uri="{FF2B5EF4-FFF2-40B4-BE49-F238E27FC236}">
                <a16:creationId xmlns:a16="http://schemas.microsoft.com/office/drawing/2014/main" id="{E4DFE54F-14A9-153D-AF65-EE89CA63FBD4}"/>
              </a:ext>
            </a:extLst>
          </p:cNvPr>
          <p:cNvSpPr>
            <a:spLocks noGrp="1"/>
          </p:cNvSpPr>
          <p:nvPr>
            <p:ph idx="1"/>
          </p:nvPr>
        </p:nvSpPr>
        <p:spPr>
          <a:xfrm>
            <a:off x="838200" y="1825625"/>
            <a:ext cx="10515600" cy="4652127"/>
          </a:xfrm>
        </p:spPr>
        <p:txBody>
          <a:bodyPr vert="horz" lIns="91440" tIns="45720" rIns="91440" bIns="45720" rtlCol="0" anchor="t">
            <a:normAutofit fontScale="77500" lnSpcReduction="20000"/>
          </a:bodyPr>
          <a:lstStyle/>
          <a:p>
            <a:r>
              <a:rPr lang="en-US" dirty="0"/>
              <a:t>VADER as a lot of limitations. Indeed, </a:t>
            </a:r>
            <a:r>
              <a:rPr lang="en-US" dirty="0">
                <a:ea typeface="+mn-lt"/>
                <a:cs typeface="+mn-lt"/>
              </a:rPr>
              <a:t>being trained on texts for the general public, such as social media or Amazon reviews, the dictionary of VADER is limited.</a:t>
            </a:r>
          </a:p>
          <a:p>
            <a:r>
              <a:rPr lang="en-US" dirty="0">
                <a:ea typeface="+mn-lt"/>
                <a:cs typeface="+mn-lt"/>
              </a:rPr>
              <a:t>The fundamental problem with the FOMC minutes is that the economic vocabulary is not in this dictionary with the correct valences. A word like 'elevated' scores slightly positive in VADER because in everyday language it suggests something high and </a:t>
            </a:r>
            <a:r>
              <a:rPr lang="en-US">
                <a:ea typeface="+mn-lt"/>
                <a:cs typeface="+mn-lt"/>
              </a:rPr>
              <a:t>distinguished.</a:t>
            </a:r>
            <a:endParaRPr lang="en-US" dirty="0">
              <a:ea typeface="+mn-lt"/>
              <a:cs typeface="+mn-lt"/>
            </a:endParaRPr>
          </a:p>
          <a:p>
            <a:r>
              <a:rPr lang="en-US" dirty="0">
                <a:ea typeface="+mn-lt"/>
                <a:cs typeface="+mn-lt"/>
              </a:rPr>
              <a:t>So, the sentence: 'inflation remains elevated above our 2% target' should be scored negatively. But VADER decompose the sentence word by word and put elevated and target positive when the global meaning of the sentence made by the Fed is to say that it's a serious problem.</a:t>
            </a:r>
          </a:p>
          <a:p>
            <a:r>
              <a:rPr lang="en-US" dirty="0">
                <a:ea typeface="+mn-lt"/>
                <a:cs typeface="+mn-lt"/>
              </a:rPr>
              <a:t>A model specifically trained on central bank texts such as </a:t>
            </a:r>
            <a:r>
              <a:rPr lang="en-US" dirty="0" err="1">
                <a:ea typeface="+mn-lt"/>
                <a:cs typeface="+mn-lt"/>
              </a:rPr>
              <a:t>FinBERT</a:t>
            </a:r>
            <a:r>
              <a:rPr lang="en-US" dirty="0">
                <a:ea typeface="+mn-lt"/>
                <a:cs typeface="+mn-lt"/>
              </a:rPr>
              <a:t>, or a BERT fine-tuned on Fed communications, would learn that 'elevated inflation' is negative in this context.</a:t>
            </a:r>
          </a:p>
          <a:p>
            <a:r>
              <a:rPr lang="en-US" dirty="0">
                <a:ea typeface="+mn-lt"/>
                <a:cs typeface="+mn-lt"/>
              </a:rPr>
              <a:t>But VADER is still useful because it's fast and doesn't require any GPU and even if the score is sometimes wrong and biased it's pretty informative and accurate on the sentiment of the documents.</a:t>
            </a:r>
          </a:p>
          <a:p>
            <a:endParaRPr lang="en-US" dirty="0">
              <a:ea typeface="+mn-lt"/>
              <a:cs typeface="+mn-lt"/>
            </a:endParaRPr>
          </a:p>
        </p:txBody>
      </p:sp>
    </p:spTree>
    <p:extLst>
      <p:ext uri="{BB962C8B-B14F-4D97-AF65-F5344CB8AC3E}">
        <p14:creationId xmlns:p14="http://schemas.microsoft.com/office/powerpoint/2010/main" val="966725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885EB-7495-6E75-C9EC-C524DB44E56B}"/>
              </a:ext>
            </a:extLst>
          </p:cNvPr>
          <p:cNvSpPr>
            <a:spLocks noGrp="1"/>
          </p:cNvSpPr>
          <p:nvPr>
            <p:ph type="title"/>
          </p:nvPr>
        </p:nvSpPr>
        <p:spPr/>
        <p:txBody>
          <a:bodyPr>
            <a:normAutofit/>
          </a:bodyPr>
          <a:lstStyle/>
          <a:p>
            <a:pPr algn="ctr"/>
            <a:r>
              <a:rPr lang="en-US">
                <a:ea typeface="+mj-lt"/>
                <a:cs typeface="+mj-lt"/>
              </a:rPr>
              <a:t>LDA Coherence Search: </a:t>
            </a:r>
            <a:br>
              <a:rPr lang="en-US" dirty="0">
                <a:ea typeface="+mj-lt"/>
                <a:cs typeface="+mj-lt"/>
              </a:rPr>
            </a:br>
            <a:r>
              <a:rPr lang="en-US">
                <a:ea typeface="+mj-lt"/>
                <a:cs typeface="+mj-lt"/>
              </a:rPr>
              <a:t>Finding the Optimal Number of Fed Topics</a:t>
            </a:r>
            <a:endParaRPr lang="en-US"/>
          </a:p>
        </p:txBody>
      </p:sp>
      <p:pic>
        <p:nvPicPr>
          <p:cNvPr id="9" name="Content Placeholder 8" descr="A graph with a line&#10;&#10;AI-generated content may be incorrect.">
            <a:extLst>
              <a:ext uri="{FF2B5EF4-FFF2-40B4-BE49-F238E27FC236}">
                <a16:creationId xmlns:a16="http://schemas.microsoft.com/office/drawing/2014/main" id="{9A94E0E4-5992-3814-AEFF-86121A98E33D}"/>
              </a:ext>
            </a:extLst>
          </p:cNvPr>
          <p:cNvPicPr>
            <a:picLocks noGrp="1" noChangeAspect="1"/>
          </p:cNvPicPr>
          <p:nvPr>
            <p:ph idx="1"/>
          </p:nvPr>
        </p:nvPicPr>
        <p:blipFill>
          <a:blip r:embed="rId2"/>
          <a:stretch>
            <a:fillRect/>
          </a:stretch>
        </p:blipFill>
        <p:spPr>
          <a:xfrm>
            <a:off x="871073" y="1825625"/>
            <a:ext cx="10449854" cy="4351338"/>
          </a:xfrm>
          <a:prstGeom prst="rect">
            <a:avLst/>
          </a:prstGeom>
        </p:spPr>
      </p:pic>
    </p:spTree>
    <p:extLst>
      <p:ext uri="{BB962C8B-B14F-4D97-AF65-F5344CB8AC3E}">
        <p14:creationId xmlns:p14="http://schemas.microsoft.com/office/powerpoint/2010/main" val="3475889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DD51B-120F-DA77-61A6-B1784AB5780F}"/>
              </a:ext>
            </a:extLst>
          </p:cNvPr>
          <p:cNvSpPr>
            <a:spLocks noGrp="1"/>
          </p:cNvSpPr>
          <p:nvPr>
            <p:ph type="title"/>
          </p:nvPr>
        </p:nvSpPr>
        <p:spPr/>
        <p:txBody>
          <a:bodyPr/>
          <a:lstStyle/>
          <a:p>
            <a:pPr algn="ctr"/>
            <a:r>
              <a:rPr lang="en-US" dirty="0"/>
              <a:t>LDA Coherence Search: </a:t>
            </a:r>
            <a:br>
              <a:rPr lang="en-US" dirty="0"/>
            </a:br>
            <a:r>
              <a:rPr lang="en-US"/>
              <a:t>Finding the Optimal Number of Fed Topics</a:t>
            </a:r>
          </a:p>
        </p:txBody>
      </p:sp>
      <p:sp>
        <p:nvSpPr>
          <p:cNvPr id="3" name="Content Placeholder 2">
            <a:extLst>
              <a:ext uri="{FF2B5EF4-FFF2-40B4-BE49-F238E27FC236}">
                <a16:creationId xmlns:a16="http://schemas.microsoft.com/office/drawing/2014/main" id="{8021C4DA-C29F-5A3E-AC21-84B71B7E4AF8}"/>
              </a:ext>
            </a:extLst>
          </p:cNvPr>
          <p:cNvSpPr>
            <a:spLocks noGrp="1"/>
          </p:cNvSpPr>
          <p:nvPr>
            <p:ph idx="1"/>
          </p:nvPr>
        </p:nvSpPr>
        <p:spPr/>
        <p:txBody>
          <a:bodyPr vert="horz" lIns="91440" tIns="45720" rIns="91440" bIns="45720" rtlCol="0" anchor="t">
            <a:normAutofit fontScale="70000" lnSpcReduction="20000"/>
          </a:bodyPr>
          <a:lstStyle/>
          <a:p>
            <a:r>
              <a:rPr lang="en-US"/>
              <a:t>Our chosen K here is K = 8.</a:t>
            </a:r>
          </a:p>
          <a:p>
            <a:r>
              <a:rPr lang="en-US" dirty="0"/>
              <a:t>Indeed, we can see on the previous graph that </a:t>
            </a:r>
            <a:r>
              <a:rPr lang="en-US" dirty="0">
                <a:ea typeface="+mn-lt"/>
                <a:cs typeface="+mn-lt"/>
              </a:rPr>
              <a:t>the peak at K=8 is undeniable. It clearly dominates all other points, with a gap of about 0.05 points above the second highest score, which is K=4 at 0.39.</a:t>
            </a:r>
          </a:p>
          <a:p>
            <a:r>
              <a:rPr lang="en-US"/>
              <a:t>Topic names:</a:t>
            </a:r>
            <a:endParaRPr lang="en-US" dirty="0"/>
          </a:p>
          <a:p>
            <a:pPr marL="0" indent="0">
              <a:buNone/>
            </a:pPr>
            <a:r>
              <a:rPr lang="en-US"/>
              <a:t>Topic 1: </a:t>
            </a:r>
            <a:r>
              <a:rPr lang="en-US">
                <a:ea typeface="+mn-lt"/>
                <a:cs typeface="+mn-lt"/>
              </a:rPr>
              <a:t>Post-Covid Normalization</a:t>
            </a:r>
            <a:endParaRPr lang="en-US" dirty="0">
              <a:ea typeface="+mn-lt"/>
              <a:cs typeface="+mn-lt"/>
            </a:endParaRPr>
          </a:p>
          <a:p>
            <a:pPr marL="0" indent="0">
              <a:buNone/>
            </a:pPr>
            <a:r>
              <a:rPr lang="en-US" dirty="0"/>
              <a:t>Topic 2: No names (because I got a little problem for this one...)</a:t>
            </a:r>
          </a:p>
          <a:p>
            <a:pPr marL="0" indent="0">
              <a:buNone/>
            </a:pPr>
            <a:r>
              <a:rPr lang="en-US" dirty="0"/>
              <a:t>Topic 3: </a:t>
            </a:r>
            <a:r>
              <a:rPr lang="en-US">
                <a:ea typeface="+mn-lt"/>
                <a:cs typeface="+mn-lt"/>
              </a:rPr>
              <a:t>Disinflation Progress</a:t>
            </a:r>
            <a:endParaRPr lang="en-US" dirty="0"/>
          </a:p>
          <a:p>
            <a:pPr marL="0" indent="0">
              <a:buNone/>
            </a:pPr>
            <a:r>
              <a:rPr lang="en-US" dirty="0"/>
              <a:t>Topic 4: </a:t>
            </a:r>
            <a:r>
              <a:rPr lang="en-US">
                <a:ea typeface="+mn-lt"/>
                <a:cs typeface="+mn-lt"/>
              </a:rPr>
              <a:t>Cumulative Tightening And Banking Sector Stress</a:t>
            </a:r>
            <a:endParaRPr lang="en-US" dirty="0"/>
          </a:p>
          <a:p>
            <a:pPr marL="0" indent="0">
              <a:buNone/>
            </a:pPr>
            <a:r>
              <a:rPr lang="en-US" dirty="0"/>
              <a:t>Topic 5: </a:t>
            </a:r>
            <a:r>
              <a:rPr lang="en-US">
                <a:ea typeface="+mn-lt"/>
                <a:cs typeface="+mn-lt"/>
              </a:rPr>
              <a:t>Trade Policy And Financial Vulnerabilities (Trump 2025)</a:t>
            </a:r>
            <a:endParaRPr lang="en-US" dirty="0"/>
          </a:p>
          <a:p>
            <a:pPr marL="0" indent="0">
              <a:buNone/>
            </a:pPr>
            <a:r>
              <a:rPr lang="en-US" dirty="0"/>
              <a:t>Topic 6: </a:t>
            </a:r>
            <a:r>
              <a:rPr lang="en-US">
                <a:ea typeface="+mn-lt"/>
                <a:cs typeface="+mn-lt"/>
              </a:rPr>
              <a:t>Supply Chain Disruptions</a:t>
            </a:r>
            <a:endParaRPr lang="en-US" dirty="0"/>
          </a:p>
          <a:p>
            <a:pPr marL="0" indent="0">
              <a:buNone/>
            </a:pPr>
            <a:r>
              <a:rPr lang="en-US" dirty="0"/>
              <a:t>Topic 7: </a:t>
            </a:r>
            <a:r>
              <a:rPr lang="en-US">
                <a:ea typeface="+mn-lt"/>
                <a:cs typeface="+mn-lt"/>
              </a:rPr>
              <a:t>Pandemic Shocks</a:t>
            </a:r>
          </a:p>
          <a:p>
            <a:pPr marL="0" indent="0">
              <a:buNone/>
            </a:pPr>
            <a:r>
              <a:rPr lang="en-US" dirty="0"/>
              <a:t>Topic 8: </a:t>
            </a:r>
            <a:r>
              <a:rPr lang="en-US">
                <a:ea typeface="+mn-lt"/>
                <a:cs typeface="+mn-lt"/>
              </a:rPr>
              <a:t>Resilient Economy</a:t>
            </a:r>
            <a:endParaRPr lang="en-US" dirty="0"/>
          </a:p>
        </p:txBody>
      </p:sp>
    </p:spTree>
    <p:extLst>
      <p:ext uri="{BB962C8B-B14F-4D97-AF65-F5344CB8AC3E}">
        <p14:creationId xmlns:p14="http://schemas.microsoft.com/office/powerpoint/2010/main" val="689550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84259-4272-7FA1-56D9-413E869483E8}"/>
              </a:ext>
            </a:extLst>
          </p:cNvPr>
          <p:cNvSpPr>
            <a:spLocks noGrp="1"/>
          </p:cNvSpPr>
          <p:nvPr>
            <p:ph type="title"/>
          </p:nvPr>
        </p:nvSpPr>
        <p:spPr/>
        <p:txBody>
          <a:bodyPr/>
          <a:lstStyle/>
          <a:p>
            <a:pPr algn="ctr"/>
            <a:r>
              <a:rPr lang="en-US" dirty="0"/>
              <a:t>LDA Coherence Search: </a:t>
            </a:r>
            <a:br>
              <a:rPr lang="en-US" dirty="0"/>
            </a:br>
            <a:r>
              <a:rPr lang="en-US"/>
              <a:t>Finding the Optimal Number of Fed Topics</a:t>
            </a:r>
          </a:p>
        </p:txBody>
      </p:sp>
      <p:sp>
        <p:nvSpPr>
          <p:cNvPr id="3" name="Content Placeholder 2">
            <a:extLst>
              <a:ext uri="{FF2B5EF4-FFF2-40B4-BE49-F238E27FC236}">
                <a16:creationId xmlns:a16="http://schemas.microsoft.com/office/drawing/2014/main" id="{0F23E28D-57C3-B395-103F-B338BD65DDDA}"/>
              </a:ext>
            </a:extLst>
          </p:cNvPr>
          <p:cNvSpPr>
            <a:spLocks noGrp="1"/>
          </p:cNvSpPr>
          <p:nvPr>
            <p:ph idx="1"/>
          </p:nvPr>
        </p:nvSpPr>
        <p:spPr/>
        <p:txBody>
          <a:bodyPr vert="horz" lIns="91440" tIns="45720" rIns="91440" bIns="45720" rtlCol="0" anchor="t">
            <a:normAutofit/>
          </a:bodyPr>
          <a:lstStyle/>
          <a:p>
            <a:r>
              <a:rPr lang="en-US" dirty="0"/>
              <a:t>It's coherent because the 8 topics cover exactly the major themes between 2022 and 2025: </a:t>
            </a:r>
            <a:r>
              <a:rPr lang="en-US" dirty="0">
                <a:ea typeface="+mn-lt"/>
                <a:cs typeface="+mn-lt"/>
              </a:rPr>
              <a:t>the post-Covid exit, external supply shocks with the war, the policy response to geopolitical shocks, banking stress, the narrative pivot and disinflation, Trump's trade policy and the 2025 tariffs.</a:t>
            </a:r>
          </a:p>
          <a:p>
            <a:r>
              <a:rPr lang="en-US" dirty="0"/>
              <a:t>So, it produced that many topics because it's </a:t>
            </a:r>
            <a:r>
              <a:rPr lang="en-US" dirty="0">
                <a:ea typeface="+mn-lt"/>
                <a:cs typeface="+mn-lt"/>
              </a:rPr>
              <a:t>number of major economic events that the Fed had to deal simultaneously between 2022 and 2025, and the model discovered them independently.</a:t>
            </a:r>
            <a:endParaRPr lang="en-US" dirty="0"/>
          </a:p>
        </p:txBody>
      </p:sp>
    </p:spTree>
    <p:extLst>
      <p:ext uri="{BB962C8B-B14F-4D97-AF65-F5344CB8AC3E}">
        <p14:creationId xmlns:p14="http://schemas.microsoft.com/office/powerpoint/2010/main" val="1313089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F2997-1A38-F4D5-AF61-A7EB050951DE}"/>
              </a:ext>
            </a:extLst>
          </p:cNvPr>
          <p:cNvSpPr>
            <a:spLocks noGrp="1"/>
          </p:cNvSpPr>
          <p:nvPr>
            <p:ph type="title"/>
          </p:nvPr>
        </p:nvSpPr>
        <p:spPr/>
        <p:txBody>
          <a:bodyPr/>
          <a:lstStyle/>
          <a:p>
            <a:pPr algn="ctr"/>
            <a:r>
              <a:rPr lang="en-US">
                <a:ea typeface="+mj-lt"/>
                <a:cs typeface="+mj-lt"/>
              </a:rPr>
              <a:t>Topic</a:t>
            </a:r>
            <a:r>
              <a:rPr lang="en-US" dirty="0">
                <a:ea typeface="+mj-lt"/>
                <a:cs typeface="+mj-lt"/>
              </a:rPr>
              <a:t>-Word Distribution: </a:t>
            </a:r>
            <a:br>
              <a:rPr lang="en-US" dirty="0">
                <a:ea typeface="+mj-lt"/>
                <a:cs typeface="+mj-lt"/>
              </a:rPr>
            </a:br>
            <a:r>
              <a:rPr lang="en-US">
                <a:ea typeface="+mj-lt"/>
                <a:cs typeface="+mj-lt"/>
              </a:rPr>
              <a:t>What Each LDA </a:t>
            </a:r>
            <a:r>
              <a:rPr lang="en-US" dirty="0">
                <a:ea typeface="+mj-lt"/>
                <a:cs typeface="+mj-lt"/>
              </a:rPr>
              <a:t>Topic Represents </a:t>
            </a:r>
            <a:endParaRPr lang="en-US" dirty="0"/>
          </a:p>
        </p:txBody>
      </p:sp>
      <p:pic>
        <p:nvPicPr>
          <p:cNvPr id="4" name="Content Placeholder 3">
            <a:extLst>
              <a:ext uri="{FF2B5EF4-FFF2-40B4-BE49-F238E27FC236}">
                <a16:creationId xmlns:a16="http://schemas.microsoft.com/office/drawing/2014/main" id="{065CD122-F7A7-28EC-C90F-E6C97A9161F8}"/>
              </a:ext>
            </a:extLst>
          </p:cNvPr>
          <p:cNvPicPr>
            <a:picLocks noGrp="1" noChangeAspect="1"/>
          </p:cNvPicPr>
          <p:nvPr>
            <p:ph idx="1"/>
          </p:nvPr>
        </p:nvPicPr>
        <p:blipFill>
          <a:blip r:embed="rId2"/>
          <a:stretch>
            <a:fillRect/>
          </a:stretch>
        </p:blipFill>
        <p:spPr>
          <a:xfrm>
            <a:off x="606287" y="1880515"/>
            <a:ext cx="5490817" cy="1315036"/>
          </a:xfrm>
          <a:prstGeom prst="rect">
            <a:avLst/>
          </a:prstGeom>
        </p:spPr>
      </p:pic>
      <p:pic>
        <p:nvPicPr>
          <p:cNvPr id="5" name="Picture 4">
            <a:extLst>
              <a:ext uri="{FF2B5EF4-FFF2-40B4-BE49-F238E27FC236}">
                <a16:creationId xmlns:a16="http://schemas.microsoft.com/office/drawing/2014/main" id="{CDB16AD1-5360-A514-D639-3439C119C85B}"/>
              </a:ext>
            </a:extLst>
          </p:cNvPr>
          <p:cNvPicPr>
            <a:picLocks noChangeAspect="1"/>
          </p:cNvPicPr>
          <p:nvPr/>
        </p:nvPicPr>
        <p:blipFill>
          <a:blip r:embed="rId3"/>
          <a:stretch>
            <a:fillRect/>
          </a:stretch>
        </p:blipFill>
        <p:spPr>
          <a:xfrm>
            <a:off x="607391" y="3898067"/>
            <a:ext cx="5488609" cy="2761433"/>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49455C42-7D0A-EDDD-FD76-456F04E67B71}"/>
              </a:ext>
            </a:extLst>
          </p:cNvPr>
          <p:cNvPicPr>
            <a:picLocks noChangeAspect="1"/>
          </p:cNvPicPr>
          <p:nvPr/>
        </p:nvPicPr>
        <p:blipFill>
          <a:blip r:embed="rId4"/>
          <a:stretch>
            <a:fillRect/>
          </a:stretch>
        </p:blipFill>
        <p:spPr>
          <a:xfrm>
            <a:off x="6361043" y="2047293"/>
            <a:ext cx="5488609" cy="2752371"/>
          </a:xfrm>
          <a:prstGeom prst="rect">
            <a:avLst/>
          </a:prstGeom>
        </p:spPr>
      </p:pic>
      <p:pic>
        <p:nvPicPr>
          <p:cNvPr id="7" name="Picture 6">
            <a:extLst>
              <a:ext uri="{FF2B5EF4-FFF2-40B4-BE49-F238E27FC236}">
                <a16:creationId xmlns:a16="http://schemas.microsoft.com/office/drawing/2014/main" id="{97D37359-456C-34B3-84C5-14AD4E855F25}"/>
              </a:ext>
            </a:extLst>
          </p:cNvPr>
          <p:cNvPicPr>
            <a:picLocks noChangeAspect="1"/>
          </p:cNvPicPr>
          <p:nvPr/>
        </p:nvPicPr>
        <p:blipFill>
          <a:blip r:embed="rId5"/>
          <a:stretch>
            <a:fillRect/>
          </a:stretch>
        </p:blipFill>
        <p:spPr>
          <a:xfrm>
            <a:off x="6460435" y="5284366"/>
            <a:ext cx="5488608" cy="1380314"/>
          </a:xfrm>
          <a:prstGeom prst="rect">
            <a:avLst/>
          </a:prstGeom>
        </p:spPr>
      </p:pic>
    </p:spTree>
    <p:extLst>
      <p:ext uri="{BB962C8B-B14F-4D97-AF65-F5344CB8AC3E}">
        <p14:creationId xmlns:p14="http://schemas.microsoft.com/office/powerpoint/2010/main" val="175173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A0D4-A2C0-0636-EE39-643763BE1238}"/>
              </a:ext>
            </a:extLst>
          </p:cNvPr>
          <p:cNvSpPr>
            <a:spLocks noGrp="1"/>
          </p:cNvSpPr>
          <p:nvPr>
            <p:ph type="title"/>
          </p:nvPr>
        </p:nvSpPr>
        <p:spPr/>
        <p:txBody>
          <a:bodyPr/>
          <a:lstStyle/>
          <a:p>
            <a:pPr algn="ctr"/>
            <a:r>
              <a:rPr lang="en-US" dirty="0"/>
              <a:t>Topic-Word Distribution: </a:t>
            </a:r>
            <a:br>
              <a:rPr lang="en-US" dirty="0"/>
            </a:br>
            <a:r>
              <a:rPr lang="en-US"/>
              <a:t>What Each LDA Topic Represents</a:t>
            </a:r>
          </a:p>
        </p:txBody>
      </p:sp>
      <p:sp>
        <p:nvSpPr>
          <p:cNvPr id="3" name="Content Placeholder 2">
            <a:extLst>
              <a:ext uri="{FF2B5EF4-FFF2-40B4-BE49-F238E27FC236}">
                <a16:creationId xmlns:a16="http://schemas.microsoft.com/office/drawing/2014/main" id="{8BB28319-ABD1-CED8-F927-C448E4AE65BE}"/>
              </a:ext>
            </a:extLst>
          </p:cNvPr>
          <p:cNvSpPr>
            <a:spLocks noGrp="1"/>
          </p:cNvSpPr>
          <p:nvPr>
            <p:ph idx="1"/>
          </p:nvPr>
        </p:nvSpPr>
        <p:spPr>
          <a:xfrm>
            <a:off x="838200" y="1825625"/>
            <a:ext cx="10515600" cy="4927266"/>
          </a:xfrm>
        </p:spPr>
        <p:txBody>
          <a:bodyPr vert="horz" lIns="91440" tIns="45720" rIns="91440" bIns="45720" rtlCol="0" anchor="t">
            <a:normAutofit fontScale="70000" lnSpcReduction="20000"/>
          </a:bodyPr>
          <a:lstStyle/>
          <a:p>
            <a:r>
              <a:rPr lang="en-US" dirty="0"/>
              <a:t>On the precedent graphs, we can identify clearly what each topics talk about.</a:t>
            </a:r>
          </a:p>
          <a:p>
            <a:r>
              <a:rPr lang="en-US" dirty="0"/>
              <a:t>Topic 1: The dominant word is pandemic. </a:t>
            </a:r>
            <a:r>
              <a:rPr lang="en-US" dirty="0">
                <a:ea typeface="+mn-lt"/>
                <a:cs typeface="+mn-lt"/>
              </a:rPr>
              <a:t>Next come accommodative, normalization, Omicron, virus, Covid, bottlenecks, variant. This topic is very specific, corresponding to the early 2022 meetings where the Fed begins to exit two years of ultra-accommodative policy.</a:t>
            </a:r>
          </a:p>
          <a:p>
            <a:r>
              <a:rPr lang="en-US"/>
              <a:t>Topic 3: </a:t>
            </a:r>
            <a:r>
              <a:rPr lang="en-US">
                <a:ea typeface="+mn-lt"/>
                <a:cs typeface="+mn-lt"/>
              </a:rPr>
              <a:t>Sustainably and achieving are the two key words here and appear consistently in the 2023/2024 minutes when the Fed begins to formulate the necessary condition for lowering rates. Inflation must sustainably return to around 2%.</a:t>
            </a:r>
          </a:p>
          <a:p>
            <a:r>
              <a:rPr lang="en-US"/>
              <a:t>Topic 4: </a:t>
            </a:r>
            <a:endParaRPr lang="en-US" dirty="0"/>
          </a:p>
          <a:p>
            <a:r>
              <a:rPr lang="en-US" dirty="0"/>
              <a:t>Topic 5: </a:t>
            </a:r>
            <a:r>
              <a:rPr lang="en-US" dirty="0">
                <a:ea typeface="+mn-lt"/>
                <a:cs typeface="+mn-lt"/>
              </a:rPr>
              <a:t>‘Tariff’ is the signal word for 2025 and does not appear in any minutes before Trump, and its presence here confirms that LDA has correctly isolated the new 2025 policy. Vulnerabilities and finance together suggest that this topic also captures discussions on financial stability in a context of tariffs and trade uncertainty. This is the most </a:t>
            </a:r>
            <a:r>
              <a:rPr lang="en-US">
                <a:ea typeface="+mn-lt"/>
                <a:cs typeface="+mn-lt"/>
              </a:rPr>
              <a:t>recent Topic.</a:t>
            </a:r>
          </a:p>
          <a:p>
            <a:r>
              <a:rPr lang="en-US" dirty="0"/>
              <a:t>Topic 6, 7 and 8 are really close: </a:t>
            </a:r>
            <a:r>
              <a:rPr lang="en-US" dirty="0">
                <a:ea typeface="+mn-lt"/>
                <a:cs typeface="+mn-lt"/>
              </a:rPr>
              <a:t>Ongoing, firming, rising, imbalances, disruptions, war, chain, size form the topic of supply shocks. Disruptions and chain together clearly pinpoint post-Covid logistical problems. War and imbalances add the geopolitical dimension. This </a:t>
            </a:r>
            <a:r>
              <a:rPr lang="en-US" dirty="0" err="1">
                <a:ea typeface="+mn-lt"/>
                <a:cs typeface="+mn-lt"/>
              </a:rPr>
              <a:t>topi</a:t>
            </a:r>
            <a:r>
              <a:rPr lang="en-US" dirty="0">
                <a:ea typeface="+mn-lt"/>
                <a:cs typeface="+mn-lt"/>
              </a:rPr>
              <a:t>cs take place in 2022.</a:t>
            </a:r>
            <a:endParaRPr lang="en-US" dirty="0"/>
          </a:p>
        </p:txBody>
      </p:sp>
    </p:spTree>
    <p:extLst>
      <p:ext uri="{BB962C8B-B14F-4D97-AF65-F5344CB8AC3E}">
        <p14:creationId xmlns:p14="http://schemas.microsoft.com/office/powerpoint/2010/main" val="1909182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839DA-500A-82E9-67AE-9ABA08D05909}"/>
              </a:ext>
            </a:extLst>
          </p:cNvPr>
          <p:cNvSpPr>
            <a:spLocks noGrp="1"/>
          </p:cNvSpPr>
          <p:nvPr>
            <p:ph type="title"/>
          </p:nvPr>
        </p:nvSpPr>
        <p:spPr/>
        <p:txBody>
          <a:bodyPr>
            <a:normAutofit/>
          </a:bodyPr>
          <a:lstStyle/>
          <a:p>
            <a:pPr algn="ctr"/>
            <a:r>
              <a:rPr lang="en-US">
                <a:ea typeface="+mj-lt"/>
                <a:cs typeface="+mj-lt"/>
              </a:rPr>
              <a:t>Document-Topic Heatmap: </a:t>
            </a:r>
            <a:br>
              <a:rPr lang="en-US" dirty="0">
                <a:ea typeface="+mj-lt"/>
                <a:cs typeface="+mj-lt"/>
              </a:rPr>
            </a:br>
            <a:r>
              <a:rPr lang="en-US">
                <a:ea typeface="+mj-lt"/>
                <a:cs typeface="+mj-lt"/>
              </a:rPr>
              <a:t>Which Meetings Focused on Which Themes?</a:t>
            </a: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C344D59D-46AD-195D-60F5-57D5822A8101}"/>
              </a:ext>
            </a:extLst>
          </p:cNvPr>
          <p:cNvPicPr>
            <a:picLocks noGrp="1" noChangeAspect="1"/>
          </p:cNvPicPr>
          <p:nvPr>
            <p:ph idx="1"/>
          </p:nvPr>
        </p:nvPicPr>
        <p:blipFill>
          <a:blip r:embed="rId2"/>
          <a:stretch>
            <a:fillRect/>
          </a:stretch>
        </p:blipFill>
        <p:spPr>
          <a:xfrm>
            <a:off x="846767" y="1825625"/>
            <a:ext cx="10498466" cy="4351338"/>
          </a:xfrm>
          <a:prstGeom prst="rect">
            <a:avLst/>
          </a:prstGeom>
        </p:spPr>
      </p:pic>
    </p:spTree>
    <p:extLst>
      <p:ext uri="{BB962C8B-B14F-4D97-AF65-F5344CB8AC3E}">
        <p14:creationId xmlns:p14="http://schemas.microsoft.com/office/powerpoint/2010/main" val="2596224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F129E-D121-F8AA-F6F0-AC6F9D0715AD}"/>
              </a:ext>
            </a:extLst>
          </p:cNvPr>
          <p:cNvSpPr>
            <a:spLocks noGrp="1"/>
          </p:cNvSpPr>
          <p:nvPr>
            <p:ph type="title"/>
          </p:nvPr>
        </p:nvSpPr>
        <p:spPr/>
        <p:txBody>
          <a:bodyPr/>
          <a:lstStyle/>
          <a:p>
            <a:pPr algn="ctr"/>
            <a:r>
              <a:rPr lang="en-US" dirty="0"/>
              <a:t>Document-Topic Heatmap: </a:t>
            </a:r>
            <a:br>
              <a:rPr lang="en-US" dirty="0"/>
            </a:br>
            <a:r>
              <a:rPr lang="en-US"/>
              <a:t>Which Meetings Focused on Which Themes?</a:t>
            </a:r>
          </a:p>
        </p:txBody>
      </p:sp>
      <p:sp>
        <p:nvSpPr>
          <p:cNvPr id="3" name="Content Placeholder 2">
            <a:extLst>
              <a:ext uri="{FF2B5EF4-FFF2-40B4-BE49-F238E27FC236}">
                <a16:creationId xmlns:a16="http://schemas.microsoft.com/office/drawing/2014/main" id="{A0B7714B-DA89-F64D-97DA-EBCB5CFF4E44}"/>
              </a:ext>
            </a:extLst>
          </p:cNvPr>
          <p:cNvSpPr>
            <a:spLocks noGrp="1"/>
          </p:cNvSpPr>
          <p:nvPr>
            <p:ph idx="1"/>
          </p:nvPr>
        </p:nvSpPr>
        <p:spPr/>
        <p:txBody>
          <a:bodyPr vert="horz" lIns="91440" tIns="45720" rIns="91440" bIns="45720" rtlCol="0" anchor="t">
            <a:normAutofit fontScale="70000" lnSpcReduction="20000"/>
          </a:bodyPr>
          <a:lstStyle/>
          <a:p>
            <a:r>
              <a:rPr lang="en-US" dirty="0"/>
              <a:t>The graph before perfectly illustrates what we saw for </a:t>
            </a:r>
            <a:r>
              <a:rPr lang="en-US"/>
              <a:t>each topics.</a:t>
            </a:r>
            <a:endParaRPr lang="en-US" dirty="0"/>
          </a:p>
          <a:p>
            <a:r>
              <a:rPr lang="en-US" dirty="0"/>
              <a:t>Indeed, Topic 1 is only one yellow cell in 2022, showing that it's the post Covid normalization dominating completely the first meetings of 2022.</a:t>
            </a:r>
          </a:p>
          <a:p>
            <a:r>
              <a:rPr lang="en-US" dirty="0">
                <a:ea typeface="+mn-lt"/>
                <a:cs typeface="+mn-lt"/>
              </a:rPr>
              <a:t>Topic 4 is the richest in the chart. It shows a green-yellow block that begins around the end of 2022, becomes completely yellow in 2023, and remains present until early 2024. It is the longest phase of the corpus and corresponds to the 2023 period when the Fed kept rates at 5.50%. The presence of intense yellow cells over several consecutive meetings in 2023 indicates that this topic is not occasional but a sustained concern over a long period.</a:t>
            </a:r>
          </a:p>
          <a:p>
            <a:r>
              <a:rPr lang="en-US" dirty="0">
                <a:ea typeface="+mn-lt"/>
                <a:cs typeface="+mn-lt"/>
              </a:rPr>
              <a:t>We can see that Topic 5 is almost completely black from 2022 to the end of 2024 (it does not exist), and then from early 2025 it turns bright yellow and remains so in all subsequent meetings. This yellow band represents the emergence of the vocabulary related to tariffs and Trump's trade policy. LDA detected some new vocabulary that was not present in the minutes before 2025. This is evidence that the Fed's discursive regime fundamentally changed with the Trump era.</a:t>
            </a:r>
          </a:p>
          <a:p>
            <a:r>
              <a:rPr lang="en-US">
                <a:ea typeface="+mn-lt"/>
                <a:cs typeface="+mn-lt"/>
              </a:rPr>
              <a:t>Topics 6 and 7 show an intense yellow-green block from around March to July 2022. This geopolitical response topic dominates the period just after the outbreak of the war in Ukraine, when post-Covid supply chains were still causing major disruptions.</a:t>
            </a:r>
            <a:endParaRPr lang="en-US" dirty="0"/>
          </a:p>
        </p:txBody>
      </p:sp>
    </p:spTree>
    <p:extLst>
      <p:ext uri="{BB962C8B-B14F-4D97-AF65-F5344CB8AC3E}">
        <p14:creationId xmlns:p14="http://schemas.microsoft.com/office/powerpoint/2010/main" val="757418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3961C-3DBB-F07E-9EAA-BE34A7EACA6F}"/>
              </a:ext>
            </a:extLst>
          </p:cNvPr>
          <p:cNvSpPr>
            <a:spLocks noGrp="1"/>
          </p:cNvSpPr>
          <p:nvPr>
            <p:ph type="title"/>
          </p:nvPr>
        </p:nvSpPr>
        <p:spPr/>
        <p:txBody>
          <a:bodyPr>
            <a:normAutofit/>
          </a:bodyPr>
          <a:lstStyle/>
          <a:p>
            <a:pPr algn="ctr"/>
            <a:r>
              <a:rPr lang="en-US">
                <a:ea typeface="+mj-lt"/>
                <a:cs typeface="+mj-lt"/>
              </a:rPr>
              <a:t>Topic Trends Over Time: </a:t>
            </a:r>
            <a:br>
              <a:rPr lang="en-US" dirty="0">
                <a:ea typeface="+mj-lt"/>
                <a:cs typeface="+mj-lt"/>
              </a:rPr>
            </a:br>
            <a:r>
              <a:rPr lang="en-US">
                <a:ea typeface="+mj-lt"/>
                <a:cs typeface="+mj-lt"/>
              </a:rPr>
              <a:t>The Stacked Area Story of Fed Concerns </a:t>
            </a:r>
            <a:endParaRPr lang="en-US"/>
          </a:p>
        </p:txBody>
      </p:sp>
      <p:pic>
        <p:nvPicPr>
          <p:cNvPr id="4" name="Content Placeholder 3">
            <a:extLst>
              <a:ext uri="{FF2B5EF4-FFF2-40B4-BE49-F238E27FC236}">
                <a16:creationId xmlns:a16="http://schemas.microsoft.com/office/drawing/2014/main" id="{DE30206F-4656-C17D-9D68-026740DA1CD7}"/>
              </a:ext>
            </a:extLst>
          </p:cNvPr>
          <p:cNvPicPr>
            <a:picLocks noGrp="1" noChangeAspect="1"/>
          </p:cNvPicPr>
          <p:nvPr>
            <p:ph idx="1"/>
          </p:nvPr>
        </p:nvPicPr>
        <p:blipFill>
          <a:blip r:embed="rId2"/>
          <a:stretch>
            <a:fillRect/>
          </a:stretch>
        </p:blipFill>
        <p:spPr>
          <a:xfrm>
            <a:off x="838200" y="2173956"/>
            <a:ext cx="10515600" cy="3654675"/>
          </a:xfrm>
          <a:prstGeom prst="rect">
            <a:avLst/>
          </a:prstGeom>
        </p:spPr>
      </p:pic>
    </p:spTree>
    <p:extLst>
      <p:ext uri="{BB962C8B-B14F-4D97-AF65-F5344CB8AC3E}">
        <p14:creationId xmlns:p14="http://schemas.microsoft.com/office/powerpoint/2010/main" val="1623785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72CE5-74C9-B8E0-2C2C-1C2268DE48DC}"/>
              </a:ext>
            </a:extLst>
          </p:cNvPr>
          <p:cNvSpPr>
            <a:spLocks noGrp="1"/>
          </p:cNvSpPr>
          <p:nvPr>
            <p:ph type="title"/>
          </p:nvPr>
        </p:nvSpPr>
        <p:spPr/>
        <p:txBody>
          <a:bodyPr/>
          <a:lstStyle/>
          <a:p>
            <a:pPr algn="ctr"/>
            <a:r>
              <a:rPr lang="en-US" dirty="0"/>
              <a:t>Topic Trends Over Time: </a:t>
            </a:r>
            <a:br>
              <a:rPr lang="en-US" dirty="0"/>
            </a:br>
            <a:r>
              <a:rPr lang="en-US"/>
              <a:t>The Stacked Area Story of Fed Concerns </a:t>
            </a:r>
          </a:p>
        </p:txBody>
      </p:sp>
      <p:sp>
        <p:nvSpPr>
          <p:cNvPr id="3" name="Content Placeholder 2">
            <a:extLst>
              <a:ext uri="{FF2B5EF4-FFF2-40B4-BE49-F238E27FC236}">
                <a16:creationId xmlns:a16="http://schemas.microsoft.com/office/drawing/2014/main" id="{4E603577-417A-60F9-9F9E-F701AC91447D}"/>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This chart shows four distinct phases. We can see that the first </a:t>
            </a:r>
            <a:r>
              <a:rPr lang="en-US">
                <a:ea typeface="+mn-lt"/>
                <a:cs typeface="+mn-lt"/>
              </a:rPr>
              <a:t>phase in blue illustrates the Covid output and supply shocks. The </a:t>
            </a:r>
            <a:r>
              <a:rPr lang="en-US" dirty="0">
                <a:ea typeface="+mn-lt"/>
                <a:cs typeface="+mn-lt"/>
              </a:rPr>
              <a:t>second phase in purple highlights the obsession with cumulative tightening over more than a year. The third phase in green depicts the emergence of the pivot. Finally, the fourth phase in orange shows the complete shift to a new uncertainty that the Fed had not anticipated. </a:t>
            </a:r>
          </a:p>
          <a:p>
            <a:r>
              <a:rPr lang="en-US">
                <a:ea typeface="+mn-lt"/>
                <a:cs typeface="+mn-lt"/>
              </a:rPr>
              <a:t>These four phases correspond exactly to the four </a:t>
            </a:r>
            <a:r>
              <a:rPr lang="en-US" dirty="0">
                <a:ea typeface="+mn-lt"/>
                <a:cs typeface="+mn-lt"/>
              </a:rPr>
              <a:t>economic regimes we defined at the beginning, and LDA recovered them in a completely unsupervised manner from the raw text of the minutes.</a:t>
            </a:r>
            <a:endParaRPr lang="en-US" dirty="0"/>
          </a:p>
        </p:txBody>
      </p:sp>
    </p:spTree>
    <p:extLst>
      <p:ext uri="{BB962C8B-B14F-4D97-AF65-F5344CB8AC3E}">
        <p14:creationId xmlns:p14="http://schemas.microsoft.com/office/powerpoint/2010/main" val="1735318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E6C85-5012-4FF5-3499-93B13CFD1F56}"/>
              </a:ext>
            </a:extLst>
          </p:cNvPr>
          <p:cNvSpPr>
            <a:spLocks noGrp="1"/>
          </p:cNvSpPr>
          <p:nvPr>
            <p:ph type="title"/>
          </p:nvPr>
        </p:nvSpPr>
        <p:spPr/>
        <p:txBody>
          <a:bodyPr>
            <a:normAutofit fontScale="90000"/>
          </a:bodyPr>
          <a:lstStyle/>
          <a:p>
            <a:pPr algn="ctr"/>
            <a:r>
              <a:rPr lang="en-US">
                <a:ea typeface="+mj-lt"/>
                <a:cs typeface="+mj-lt"/>
              </a:rPr>
              <a:t>Top Topic Per Month: </a:t>
            </a:r>
            <a:br>
              <a:rPr lang="en-US" dirty="0">
                <a:ea typeface="+mj-lt"/>
                <a:cs typeface="+mj-lt"/>
              </a:rPr>
            </a:br>
            <a:r>
              <a:rPr lang="en-US">
                <a:ea typeface="+mj-lt"/>
                <a:cs typeface="+mj-lt"/>
              </a:rPr>
              <a:t>The Fed's Single Biggest Concern Each Meeting</a:t>
            </a:r>
            <a:endParaRPr lang="en-US"/>
          </a:p>
        </p:txBody>
      </p:sp>
      <p:pic>
        <p:nvPicPr>
          <p:cNvPr id="9" name="Content Placeholder 8">
            <a:extLst>
              <a:ext uri="{FF2B5EF4-FFF2-40B4-BE49-F238E27FC236}">
                <a16:creationId xmlns:a16="http://schemas.microsoft.com/office/drawing/2014/main" id="{AF8E4C5A-4EDE-A6AE-96A9-3AA5AB92E191}"/>
              </a:ext>
            </a:extLst>
          </p:cNvPr>
          <p:cNvPicPr>
            <a:picLocks noGrp="1" noChangeAspect="1"/>
          </p:cNvPicPr>
          <p:nvPr>
            <p:ph idx="1"/>
          </p:nvPr>
        </p:nvPicPr>
        <p:blipFill>
          <a:blip r:embed="rId2"/>
          <a:stretch>
            <a:fillRect/>
          </a:stretch>
        </p:blipFill>
        <p:spPr>
          <a:xfrm>
            <a:off x="1089191" y="1825625"/>
            <a:ext cx="10013617" cy="4351338"/>
          </a:xfrm>
          <a:prstGeom prst="rect">
            <a:avLst/>
          </a:prstGeom>
        </p:spPr>
      </p:pic>
    </p:spTree>
    <p:extLst>
      <p:ext uri="{BB962C8B-B14F-4D97-AF65-F5344CB8AC3E}">
        <p14:creationId xmlns:p14="http://schemas.microsoft.com/office/powerpoint/2010/main" val="4183677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37F65-1B26-2592-4133-13385F876A9D}"/>
              </a:ext>
            </a:extLst>
          </p:cNvPr>
          <p:cNvSpPr>
            <a:spLocks noGrp="1"/>
          </p:cNvSpPr>
          <p:nvPr>
            <p:ph type="title"/>
          </p:nvPr>
        </p:nvSpPr>
        <p:spPr/>
        <p:txBody>
          <a:bodyPr/>
          <a:lstStyle/>
          <a:p>
            <a:pPr algn="ctr"/>
            <a:r>
              <a:rPr lang="en-US" sz="4000" dirty="0"/>
              <a:t>Top Topic Per Month: </a:t>
            </a:r>
            <a:br>
              <a:rPr lang="en-US" sz="4000" dirty="0"/>
            </a:br>
            <a:r>
              <a:rPr lang="en-US" sz="4000"/>
              <a:t>The Fed's Single Biggest Concern Each Meeting</a:t>
            </a:r>
            <a:endParaRPr lang="en-US"/>
          </a:p>
        </p:txBody>
      </p:sp>
      <p:sp>
        <p:nvSpPr>
          <p:cNvPr id="3" name="Content Placeholder 2">
            <a:extLst>
              <a:ext uri="{FF2B5EF4-FFF2-40B4-BE49-F238E27FC236}">
                <a16:creationId xmlns:a16="http://schemas.microsoft.com/office/drawing/2014/main" id="{0A03F234-D64C-5EDA-C549-6BD202A8C418}"/>
              </a:ext>
            </a:extLst>
          </p:cNvPr>
          <p:cNvSpPr>
            <a:spLocks noGrp="1"/>
          </p:cNvSpPr>
          <p:nvPr>
            <p:ph idx="1"/>
          </p:nvPr>
        </p:nvSpPr>
        <p:spPr/>
        <p:txBody>
          <a:bodyPr vert="horz" lIns="91440" tIns="45720" rIns="91440" bIns="45720" rtlCol="0" anchor="t">
            <a:normAutofit fontScale="77500" lnSpcReduction="20000"/>
          </a:bodyPr>
          <a:lstStyle/>
          <a:p>
            <a:r>
              <a:rPr lang="en-US" dirty="0">
                <a:ea typeface="+mn-lt"/>
                <a:cs typeface="+mn-lt"/>
              </a:rPr>
              <a:t>This graph represents the dominant topic for each month. The height indicates the weight and the color indicates the dominating topic. The black dashed line with diamonds shows the feds funds rate every month.</a:t>
            </a:r>
          </a:p>
          <a:p>
            <a:r>
              <a:rPr lang="en-US" dirty="0"/>
              <a:t>We can see on the graph that when the fed funds rates increase in 2022, it's topic 6 and 7 that dominate and it's because </a:t>
            </a:r>
            <a:r>
              <a:rPr lang="en-US" dirty="0">
                <a:ea typeface="+mn-lt"/>
                <a:cs typeface="+mn-lt"/>
              </a:rPr>
              <a:t>supply shocks and war are the causes. It's the inflation.</a:t>
            </a:r>
          </a:p>
          <a:p>
            <a:r>
              <a:rPr lang="en-US">
                <a:ea typeface="+mn-lt"/>
                <a:cs typeface="+mn-lt"/>
              </a:rPr>
              <a:t>Between early 2023 and July 2024, the dotted line is perfectly horizontal at 5.50%. During this period, Topic 4 dominates. This is the clearest relationship on the chart; the rate no longer moves, and the dominant topic hardly changes either. The Fed is stuck, wondering at each meeting whether to keep or lower the rate.</a:t>
            </a:r>
            <a:endParaRPr lang="en-US" dirty="0"/>
          </a:p>
          <a:p>
            <a:r>
              <a:rPr lang="en-US" dirty="0"/>
              <a:t>We can observe that between Jan 2024 and Jul 2024, Topic 3 appear but the rate is </a:t>
            </a:r>
            <a:r>
              <a:rPr lang="en-US" dirty="0" err="1"/>
              <a:t>sti</a:t>
            </a:r>
            <a:r>
              <a:rPr lang="en-US" dirty="0"/>
              <a:t>ll at 5%.</a:t>
            </a:r>
            <a:r>
              <a:rPr lang="en-US" dirty="0">
                <a:ea typeface="+mn-lt"/>
                <a:cs typeface="+mn-lt"/>
              </a:rPr>
              <a:t>LDA detects this shift in rhetorical tone before the curve begins to fall. This shows that NLP analysis of the minutes can serve as a leading indicator and that, with a few meetings in advance, one can understand how rates are moving.</a:t>
            </a:r>
          </a:p>
          <a:p>
            <a:r>
              <a:rPr lang="en-US"/>
              <a:t>After the rate stay the same with topic 5 during Trump era.</a:t>
            </a:r>
            <a:endParaRPr lang="en-US" dirty="0"/>
          </a:p>
        </p:txBody>
      </p:sp>
    </p:spTree>
    <p:extLst>
      <p:ext uri="{BB962C8B-B14F-4D97-AF65-F5344CB8AC3E}">
        <p14:creationId xmlns:p14="http://schemas.microsoft.com/office/powerpoint/2010/main" val="3346317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BC576-C8A7-5D49-7A51-128C9FB97484}"/>
              </a:ext>
            </a:extLst>
          </p:cNvPr>
          <p:cNvSpPr>
            <a:spLocks noGrp="1"/>
          </p:cNvSpPr>
          <p:nvPr>
            <p:ph type="title"/>
          </p:nvPr>
        </p:nvSpPr>
        <p:spPr/>
        <p:txBody>
          <a:bodyPr>
            <a:normAutofit/>
          </a:bodyPr>
          <a:lstStyle/>
          <a:p>
            <a:pPr algn="ctr"/>
            <a:r>
              <a:rPr lang="en-US" dirty="0" err="1">
                <a:ea typeface="+mj-lt"/>
                <a:cs typeface="+mj-lt"/>
              </a:rPr>
              <a:t>pyLDAvis</a:t>
            </a:r>
            <a:r>
              <a:rPr lang="en-US" dirty="0">
                <a:ea typeface="+mj-lt"/>
                <a:cs typeface="+mj-lt"/>
              </a:rPr>
              <a:t>: </a:t>
            </a:r>
            <a:br>
              <a:rPr lang="en-US" dirty="0"/>
            </a:br>
            <a:r>
              <a:rPr lang="en-US" dirty="0">
                <a:ea typeface="+mj-lt"/>
                <a:cs typeface="+mj-lt"/>
              </a:rPr>
              <a:t>Exploring Topic Separation and Vocabulary</a:t>
            </a:r>
            <a:endParaRPr lang="en-US" dirty="0"/>
          </a:p>
        </p:txBody>
      </p:sp>
      <p:pic>
        <p:nvPicPr>
          <p:cNvPr id="4" name="Content Placeholder 3" descr="A screenshot of a graph&#10;&#10;AI-generated content may be incorrect.">
            <a:extLst>
              <a:ext uri="{FF2B5EF4-FFF2-40B4-BE49-F238E27FC236}">
                <a16:creationId xmlns:a16="http://schemas.microsoft.com/office/drawing/2014/main" id="{6E4950F3-C2FE-8719-4464-397A20DE58CF}"/>
              </a:ext>
            </a:extLst>
          </p:cNvPr>
          <p:cNvPicPr>
            <a:picLocks noGrp="1" noChangeAspect="1"/>
          </p:cNvPicPr>
          <p:nvPr>
            <p:ph idx="1"/>
          </p:nvPr>
        </p:nvPicPr>
        <p:blipFill>
          <a:blip r:embed="rId2"/>
          <a:stretch>
            <a:fillRect/>
          </a:stretch>
        </p:blipFill>
        <p:spPr>
          <a:xfrm>
            <a:off x="2710939" y="1825625"/>
            <a:ext cx="6770122" cy="4351338"/>
          </a:xfrm>
          <a:prstGeom prst="rect">
            <a:avLst/>
          </a:prstGeom>
        </p:spPr>
      </p:pic>
    </p:spTree>
    <p:extLst>
      <p:ext uri="{BB962C8B-B14F-4D97-AF65-F5344CB8AC3E}">
        <p14:creationId xmlns:p14="http://schemas.microsoft.com/office/powerpoint/2010/main" val="912762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1BC8D-06D6-1F3D-0984-9D50F91714FB}"/>
              </a:ext>
            </a:extLst>
          </p:cNvPr>
          <p:cNvSpPr>
            <a:spLocks noGrp="1"/>
          </p:cNvSpPr>
          <p:nvPr>
            <p:ph type="title"/>
          </p:nvPr>
        </p:nvSpPr>
        <p:spPr/>
        <p:txBody>
          <a:bodyPr/>
          <a:lstStyle/>
          <a:p>
            <a:pPr algn="ctr"/>
            <a:r>
              <a:rPr lang="en-US" dirty="0" err="1"/>
              <a:t>pyLDAvis</a:t>
            </a:r>
            <a:r>
              <a:rPr lang="en-US" dirty="0"/>
              <a:t>: </a:t>
            </a:r>
            <a:br>
              <a:rPr lang="en-US" dirty="0"/>
            </a:br>
            <a:r>
              <a:rPr lang="en-US" dirty="0"/>
              <a:t>Exploring Topic Separation and Vocabulary</a:t>
            </a:r>
          </a:p>
        </p:txBody>
      </p:sp>
      <p:sp>
        <p:nvSpPr>
          <p:cNvPr id="3" name="Content Placeholder 2">
            <a:extLst>
              <a:ext uri="{FF2B5EF4-FFF2-40B4-BE49-F238E27FC236}">
                <a16:creationId xmlns:a16="http://schemas.microsoft.com/office/drawing/2014/main" id="{07B38266-6998-FD2A-1474-C1F3698AF928}"/>
              </a:ext>
            </a:extLst>
          </p:cNvPr>
          <p:cNvSpPr>
            <a:spLocks noGrp="1"/>
          </p:cNvSpPr>
          <p:nvPr>
            <p:ph idx="1"/>
          </p:nvPr>
        </p:nvSpPr>
        <p:spPr/>
        <p:txBody>
          <a:bodyPr vert="horz" lIns="91440" tIns="45720" rIns="91440" bIns="45720" rtlCol="0" anchor="t">
            <a:normAutofit/>
          </a:bodyPr>
          <a:lstStyle/>
          <a:p>
            <a:r>
              <a:rPr lang="en-US">
                <a:ea typeface="+mn-lt"/>
                <a:cs typeface="+mn-lt"/>
              </a:rPr>
              <a:t>We can see that Topic 1 is isolated in the top left and serves as evidence that the Covid vocabulary is unique in this corpus, as no other topic uses pandemic.</a:t>
            </a:r>
          </a:p>
          <a:p>
            <a:r>
              <a:rPr lang="en-US">
                <a:ea typeface="+mn-lt"/>
                <a:cs typeface="+mn-lt"/>
              </a:rPr>
              <a:t>The central cluster of Topics 3, 4, 5, and 8 truly reflects that several phases of the tightening cycle share a common vocabulary. </a:t>
            </a:r>
          </a:p>
          <a:p>
            <a:r>
              <a:rPr lang="en-US">
                <a:ea typeface="+mn-lt"/>
                <a:cs typeface="+mn-lt"/>
              </a:rPr>
              <a:t>The dominant size of Topic 5 confirms the main finding of our entire analysis. Indeed, the Trump 2025 era created a thematic break that occupies more space in the corpus than other event of the period, including the 2022 inflation peak.</a:t>
            </a:r>
            <a:endParaRPr lang="en-US"/>
          </a:p>
        </p:txBody>
      </p:sp>
    </p:spTree>
    <p:extLst>
      <p:ext uri="{BB962C8B-B14F-4D97-AF65-F5344CB8AC3E}">
        <p14:creationId xmlns:p14="http://schemas.microsoft.com/office/powerpoint/2010/main" val="4231672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5107A-C8CF-DC45-794D-5F795795A530}"/>
              </a:ext>
            </a:extLst>
          </p:cNvPr>
          <p:cNvSpPr>
            <a:spLocks noGrp="1"/>
          </p:cNvSpPr>
          <p:nvPr>
            <p:ph type="title"/>
          </p:nvPr>
        </p:nvSpPr>
        <p:spPr/>
        <p:txBody>
          <a:bodyPr>
            <a:normAutofit/>
          </a:bodyPr>
          <a:lstStyle/>
          <a:p>
            <a:pPr algn="ctr"/>
            <a:r>
              <a:rPr lang="en-US" sz="3600" dirty="0">
                <a:ea typeface="+mj-lt"/>
                <a:cs typeface="+mj-lt"/>
              </a:rPr>
              <a:t>Economic Takeaways: </a:t>
            </a:r>
            <a:br>
              <a:rPr lang="en-US" sz="3600" dirty="0">
                <a:ea typeface="+mj-lt"/>
                <a:cs typeface="+mj-lt"/>
              </a:rPr>
            </a:br>
            <a:r>
              <a:rPr lang="en-US" sz="3600">
                <a:ea typeface="+mj-lt"/>
                <a:cs typeface="+mj-lt"/>
              </a:rPr>
              <a:t>What NLP Tells Us About the 2022–2025 Policy Cycle</a:t>
            </a:r>
            <a:endParaRPr lang="en-US" sz="3600"/>
          </a:p>
        </p:txBody>
      </p:sp>
      <p:sp>
        <p:nvSpPr>
          <p:cNvPr id="3" name="Content Placeholder 2">
            <a:extLst>
              <a:ext uri="{FF2B5EF4-FFF2-40B4-BE49-F238E27FC236}">
                <a16:creationId xmlns:a16="http://schemas.microsoft.com/office/drawing/2014/main" id="{892D0B70-69C1-CCC6-0F3D-FE0C5A8C29F4}"/>
              </a:ext>
            </a:extLst>
          </p:cNvPr>
          <p:cNvSpPr>
            <a:spLocks noGrp="1"/>
          </p:cNvSpPr>
          <p:nvPr>
            <p:ph idx="1"/>
          </p:nvPr>
        </p:nvSpPr>
        <p:spPr/>
        <p:txBody>
          <a:bodyPr vert="horz" lIns="91440" tIns="45720" rIns="91440" bIns="45720" rtlCol="0" anchor="t">
            <a:normAutofit fontScale="85000" lnSpcReduction="20000"/>
          </a:bodyPr>
          <a:lstStyle/>
          <a:p>
            <a:r>
              <a:rPr lang="en-US" dirty="0"/>
              <a:t>The biggest finding from the NLP analysis is that </a:t>
            </a:r>
            <a:r>
              <a:rPr lang="en-US" dirty="0">
                <a:ea typeface="+mn-lt"/>
                <a:cs typeface="+mn-lt"/>
              </a:rPr>
              <a:t>LDA detected the narrative pivot 2 to 3 meetings before the first drop in September 2024, with Topic 3 becoming dominant as of January 2024. Another one is that VADER confirms that the Fed's language remains structurally neutral even in a crisis, with only 4 red panels out of 32 meetings.</a:t>
            </a:r>
          </a:p>
          <a:p>
            <a:r>
              <a:rPr lang="en-US" dirty="0">
                <a:ea typeface="+mn-lt"/>
                <a:cs typeface="+mn-lt"/>
              </a:rPr>
              <a:t>Some limitations can be that VADER doesn't detect specific topic and words like economic ones and as problem to classify the sentiment. Also, in LDA, word order doesn't exist. The sentence 'inflation risks have decreased' and the sentence 'risks of decreased inflation' produce exactly the same tokens for LDA. In FOMC minutes, where the syntactic structure carries a large part of the economic meaning, this loss of information is significant.</a:t>
            </a:r>
          </a:p>
          <a:p>
            <a:r>
              <a:rPr lang="en-US" dirty="0">
                <a:ea typeface="+mn-lt"/>
                <a:cs typeface="+mn-lt"/>
              </a:rPr>
              <a:t>To conclude and help those limitations, we can integrate FRED API to automatically calculate correlations between LDA topics and the CPI and rate. But LDA (an unsupervised model) identified the four acts of the 2022/2025 cycle that economists later identified.</a:t>
            </a:r>
          </a:p>
        </p:txBody>
      </p:sp>
    </p:spTree>
    <p:extLst>
      <p:ext uri="{BB962C8B-B14F-4D97-AF65-F5344CB8AC3E}">
        <p14:creationId xmlns:p14="http://schemas.microsoft.com/office/powerpoint/2010/main" val="2671687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Assignment 3: NLP Analysis of Federal Reserve FOMC Minutes</vt:lpstr>
      <vt:lpstr>The 2022–2025 Rate Shock:  Fed Language as Economic Policy</vt:lpstr>
      <vt:lpstr>The Post-COVID Monetary Landscape:  Your Dataset</vt:lpstr>
      <vt:lpstr>The Post-COVID Monetary Landscape:  Your Dataset 2</vt:lpstr>
      <vt:lpstr>Data Architecture:  From FOMC.gov to Analysis-Ready CSV</vt:lpstr>
      <vt:lpstr>Data Architecture:  From FOMC.gov to Analysis-Ready CSV 2</vt:lpstr>
      <vt:lpstr>VADER Sentiment:  Measuring Fed Tone Across the Hiking Cycle</vt:lpstr>
      <vt:lpstr>VADER Sentiment:  Measuring Fed Tone Across the Hiking Cycle </vt:lpstr>
      <vt:lpstr>VADER Sentiment:  Measuring Fed Tone Across the Hiking Cycle</vt:lpstr>
      <vt:lpstr>Polarity Deep Dive:  Neutral Dominates, But When Does Negativity Spike?</vt:lpstr>
      <vt:lpstr>Month-by-Month Positive Sentiment:  When Did the Fed Sound Optimistic?</vt:lpstr>
      <vt:lpstr>Month-by-Month Positive Sentiment:  When Did the Fed Sound Optimistic?</vt:lpstr>
      <vt:lpstr>Month-by-Month Negative Sentiment:  Stress Signals in Fed Language</vt:lpstr>
      <vt:lpstr>Month-by-Month Negative Sentiment:  Stress Signals in Fed Language</vt:lpstr>
      <vt:lpstr>VADER's Blind Spot:  What Lexicon-Based Sentiment Misses in Fed Text</vt:lpstr>
      <vt:lpstr>LDA Coherence Search:  Finding the Optimal Number of Fed Topics</vt:lpstr>
      <vt:lpstr>LDA Coherence Search:  Finding the Optimal Number of Fed Topics</vt:lpstr>
      <vt:lpstr>LDA Coherence Search:  Finding the Optimal Number of Fed Topics</vt:lpstr>
      <vt:lpstr>Topic-Word Distribution:  What Each LDA Topic Represents </vt:lpstr>
      <vt:lpstr>Topic-Word Distribution:  What Each LDA Topic Represents</vt:lpstr>
      <vt:lpstr>Document-Topic Heatmap:  Which Meetings Focused on Which Themes?</vt:lpstr>
      <vt:lpstr>Document-Topic Heatmap:  Which Meetings Focused on Which Themes?</vt:lpstr>
      <vt:lpstr>Topic Trends Over Time:  The Stacked Area Story of Fed Concerns </vt:lpstr>
      <vt:lpstr>Topic Trends Over Time:  The Stacked Area Story of Fed Concerns </vt:lpstr>
      <vt:lpstr>Top Topic Per Month:  The Fed's Single Biggest Concern Each Meeting</vt:lpstr>
      <vt:lpstr>Top Topic Per Month:  The Fed's Single Biggest Concern Each Meeting</vt:lpstr>
      <vt:lpstr>pyLDAvis:  Exploring Topic Separation and Vocabulary</vt:lpstr>
      <vt:lpstr>pyLDAvis:  Exploring Topic Separation and Vocabulary</vt:lpstr>
      <vt:lpstr>Economic Takeaways:  What NLP Tells Us About the 2022–2025 Policy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1160</cp:revision>
  <dcterms:created xsi:type="dcterms:W3CDTF">2026-04-18T18:52:43Z</dcterms:created>
  <dcterms:modified xsi:type="dcterms:W3CDTF">2026-04-21T20:56:39Z</dcterms:modified>
</cp:coreProperties>
</file>